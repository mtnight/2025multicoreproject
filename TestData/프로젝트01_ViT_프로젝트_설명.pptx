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8"/>
  </p:notesMasterIdLst>
  <p:handoutMasterIdLst>
    <p:handoutMasterId r:id="rId29"/>
  </p:handoutMasterIdLst>
  <p:sldIdLst>
    <p:sldId id="293" r:id="rId2"/>
    <p:sldId id="294" r:id="rId3"/>
    <p:sldId id="295" r:id="rId4"/>
    <p:sldId id="296" r:id="rId5"/>
    <p:sldId id="297" r:id="rId6"/>
    <p:sldId id="326" r:id="rId7"/>
    <p:sldId id="339" r:id="rId8"/>
    <p:sldId id="333" r:id="rId9"/>
    <p:sldId id="335" r:id="rId10"/>
    <p:sldId id="336" r:id="rId11"/>
    <p:sldId id="301" r:id="rId12"/>
    <p:sldId id="329" r:id="rId13"/>
    <p:sldId id="302" r:id="rId14"/>
    <p:sldId id="331" r:id="rId15"/>
    <p:sldId id="304" r:id="rId16"/>
    <p:sldId id="337" r:id="rId17"/>
    <p:sldId id="330" r:id="rId18"/>
    <p:sldId id="319" r:id="rId19"/>
    <p:sldId id="313" r:id="rId20"/>
    <p:sldId id="317" r:id="rId21"/>
    <p:sldId id="318" r:id="rId22"/>
    <p:sldId id="338" r:id="rId23"/>
    <p:sldId id="325" r:id="rId24"/>
    <p:sldId id="321" r:id="rId25"/>
    <p:sldId id="322" r:id="rId26"/>
    <p:sldId id="323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준영 김" initials="준김" lastIdx="1" clrIdx="0">
    <p:extLst>
      <p:ext uri="{19B8F6BF-5375-455C-9EA6-DF929625EA0E}">
        <p15:presenceInfo xmlns:p15="http://schemas.microsoft.com/office/powerpoint/2012/main" userId="fe57178a5f0daa7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DC8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3" autoAdjust="0"/>
    <p:restoredTop sz="94329" autoAdjust="0"/>
  </p:normalViewPr>
  <p:slideViewPr>
    <p:cSldViewPr snapToGrid="0">
      <p:cViewPr varScale="1">
        <p:scale>
          <a:sx n="93" d="100"/>
          <a:sy n="93" d="100"/>
        </p:scale>
        <p:origin x="174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commentAuthors" Target="commentAuthor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F8C98358-40FA-4BF8-973A-7838D3C385E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CDE4D16-F912-4624-B9B0-7BBE4B33712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92DF84-F7C6-4322-8840-6FFB54794B80}" type="datetimeFigureOut">
              <a:rPr lang="ko-KR" altLang="en-US" smtClean="0">
                <a:latin typeface="KoPubWorld돋움체 Medium" panose="00000600000000000000" pitchFamily="2" charset="-127"/>
                <a:ea typeface="KoPubWorld돋움체 Medium" panose="00000600000000000000" pitchFamily="2" charset="-127"/>
              </a:rPr>
              <a:t>2025-11-03</a:t>
            </a:fld>
            <a:endParaRPr lang="ko-KR" alt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C5DA57B-5DB0-4F5C-A727-F9FD41705B5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DF8925C-2704-4291-97FD-67BF8B374D3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43B8C2-7833-4F21-B5A8-001ADAAF6025}" type="slidenum">
              <a:rPr lang="ko-KR" altLang="en-US" smtClean="0">
                <a:latin typeface="KoPubWorld돋움체 Medium" panose="00000600000000000000" pitchFamily="2" charset="-127"/>
                <a:ea typeface="KoPubWorld돋움체 Medium" panose="00000600000000000000" pitchFamily="2" charset="-127"/>
              </a:rPr>
              <a:t>‹#›</a:t>
            </a:fld>
            <a:endParaRPr lang="ko-KR" alt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022811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oPubWorld돋움체 Medium" panose="00000600000000000000" pitchFamily="2" charset="-127"/>
                <a:ea typeface="KoPubWorld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oPubWorld돋움체 Medium" panose="00000600000000000000" pitchFamily="2" charset="-127"/>
                <a:ea typeface="KoPubWorld돋움체 Medium" panose="00000600000000000000" pitchFamily="2" charset="-127"/>
              </a:defRPr>
            </a:lvl1pPr>
          </a:lstStyle>
          <a:p>
            <a:fld id="{855AAA25-55F2-442E-9E06-0CE6F663E271}" type="datetimeFigureOut">
              <a:rPr lang="ko-KR" altLang="en-US" smtClean="0"/>
              <a:pPr/>
              <a:t>2025-11-03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oPubWorld돋움체 Medium" panose="00000600000000000000" pitchFamily="2" charset="-127"/>
                <a:ea typeface="KoPubWorld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oPubWorld돋움체 Medium" panose="00000600000000000000" pitchFamily="2" charset="-127"/>
                <a:ea typeface="KoPubWorld돋움체 Medium" panose="00000600000000000000" pitchFamily="2" charset="-127"/>
              </a:defRPr>
            </a:lvl1pPr>
          </a:lstStyle>
          <a:p>
            <a:fld id="{B653664A-AD82-4BC7-B5BF-36979BAD81D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60752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oPubWorld돋움체 Medium" panose="00000600000000000000" pitchFamily="2" charset="-127"/>
        <a:ea typeface="KoPubWorld돋움체 Medium" panose="00000600000000000000" pitchFamily="2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oPubWorld돋움체 Medium" panose="00000600000000000000" pitchFamily="2" charset="-127"/>
        <a:ea typeface="KoPubWorld돋움체 Medium" panose="00000600000000000000" pitchFamily="2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oPubWorld돋움체 Medium" panose="00000600000000000000" pitchFamily="2" charset="-127"/>
        <a:ea typeface="KoPubWorld돋움체 Medium" panose="00000600000000000000" pitchFamily="2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oPubWorld돋움체 Medium" panose="00000600000000000000" pitchFamily="2" charset="-127"/>
        <a:ea typeface="KoPubWorld돋움체 Medium" panose="00000600000000000000" pitchFamily="2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oPubWorld돋움체 Medium" panose="00000600000000000000" pitchFamily="2" charset="-127"/>
        <a:ea typeface="KoPubWorld돋움체 Medium" panose="00000600000000000000" pitchFamily="2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53664A-AD82-4BC7-B5BF-36979BAD81D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032835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53664A-AD82-4BC7-B5BF-36979BAD81DC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612002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53664A-AD82-4BC7-B5BF-36979BAD81DC}" type="slidenum">
              <a:rPr lang="ko-KR" altLang="en-US" smtClean="0"/>
              <a:pPr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946894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53664A-AD82-4BC7-B5BF-36979BAD81DC}" type="slidenum">
              <a:rPr lang="ko-KR" altLang="en-US" smtClean="0"/>
              <a:pPr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492974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53664A-AD82-4BC7-B5BF-36979BAD81DC}" type="slidenum">
              <a:rPr lang="ko-KR" altLang="en-US" smtClean="0"/>
              <a:pPr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240194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53664A-AD82-4BC7-B5BF-36979BAD81DC}" type="slidenum">
              <a:rPr lang="ko-KR" altLang="en-US" smtClean="0"/>
              <a:pPr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140446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53664A-AD82-4BC7-B5BF-36979BAD81DC}" type="slidenum">
              <a:rPr lang="ko-KR" altLang="en-US" smtClean="0"/>
              <a:pPr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43536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1">
            <a:extLst>
              <a:ext uri="{FF2B5EF4-FFF2-40B4-BE49-F238E27FC236}">
                <a16:creationId xmlns:a16="http://schemas.microsoft.com/office/drawing/2014/main" id="{921D9843-1AAB-4B7F-B78F-9045AE53E17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4282" y="1185965"/>
            <a:ext cx="8715436" cy="7200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normAutofit/>
          </a:bodyPr>
          <a:lstStyle>
            <a:lvl1pPr algn="ctr">
              <a:defRPr sz="3200">
                <a:effectLst/>
              </a:defRPr>
            </a:lvl1pPr>
          </a:lstStyle>
          <a:p>
            <a:r>
              <a:rPr lang="ko-KR" altLang="en-US" dirty="0"/>
              <a:t>과목명</a:t>
            </a:r>
          </a:p>
        </p:txBody>
      </p:sp>
      <p:sp>
        <p:nvSpPr>
          <p:cNvPr id="21" name="텍스트 개체 틀 18">
            <a:extLst>
              <a:ext uri="{FF2B5EF4-FFF2-40B4-BE49-F238E27FC236}">
                <a16:creationId xmlns:a16="http://schemas.microsoft.com/office/drawing/2014/main" id="{8CE1258F-93DA-4C0D-99DB-0CFCF9AB513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1929389"/>
            <a:ext cx="7772400" cy="1080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60000"/>
              </a:lnSpc>
              <a:buNone/>
              <a:defRPr sz="2000" b="0">
                <a:latin typeface="+mj-ea"/>
                <a:ea typeface="+mj-ea"/>
              </a:defRPr>
            </a:lvl1pPr>
          </a:lstStyle>
          <a:p>
            <a:pPr lvl="0"/>
            <a:r>
              <a:rPr lang="ko-KR" altLang="en-US" dirty="0"/>
              <a:t>교재 정보</a:t>
            </a:r>
            <a:endParaRPr lang="en-US" altLang="ko-KR" dirty="0"/>
          </a:p>
        </p:txBody>
      </p:sp>
      <p:sp>
        <p:nvSpPr>
          <p:cNvPr id="22" name="텍스트 개체 틀 18">
            <a:extLst>
              <a:ext uri="{FF2B5EF4-FFF2-40B4-BE49-F238E27FC236}">
                <a16:creationId xmlns:a16="http://schemas.microsoft.com/office/drawing/2014/main" id="{572D0287-E0D4-42F9-8E91-AB599833E95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3032813"/>
            <a:ext cx="7772400" cy="108000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3200" b="0">
                <a:solidFill>
                  <a:schemeClr val="accent4">
                    <a:lumMod val="50000"/>
                  </a:schemeClr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ko-KR" altLang="en-US" dirty="0"/>
              <a:t>프레젠테이션 제목</a:t>
            </a:r>
            <a:endParaRPr lang="en-US" altLang="ko-KR" dirty="0"/>
          </a:p>
        </p:txBody>
      </p:sp>
      <p:sp>
        <p:nvSpPr>
          <p:cNvPr id="12" name="부제목 2">
            <a:extLst>
              <a:ext uri="{FF2B5EF4-FFF2-40B4-BE49-F238E27FC236}">
                <a16:creationId xmlns:a16="http://schemas.microsoft.com/office/drawing/2014/main" id="{6B399202-28E2-47DE-AF8D-1A7E38F1019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21505" y="4275438"/>
            <a:ext cx="7500990" cy="166404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r">
              <a:buNone/>
              <a:defRPr sz="2000" b="0" i="1">
                <a:latin typeface="+mn-ea"/>
                <a:ea typeface="+mn-ea"/>
              </a:defRPr>
            </a:lvl1pPr>
          </a:lstStyle>
          <a:p>
            <a:r>
              <a:rPr lang="en-US" altLang="ko-KR" dirty="0"/>
              <a:t>####</a:t>
            </a:r>
            <a:r>
              <a:rPr lang="ko-KR" altLang="en-US" dirty="0"/>
              <a:t>년 </a:t>
            </a:r>
            <a:r>
              <a:rPr lang="en-US" altLang="ko-KR" dirty="0"/>
              <a:t>#</a:t>
            </a:r>
            <a:r>
              <a:rPr lang="ko-KR" altLang="en-US" dirty="0"/>
              <a:t>학기</a:t>
            </a:r>
            <a:br>
              <a:rPr lang="en-US" altLang="ko-KR" dirty="0"/>
            </a:br>
            <a:br>
              <a:rPr lang="en-US" altLang="ko-KR" sz="2000" b="0" dirty="0"/>
            </a:br>
            <a:r>
              <a:rPr lang="ko-KR" altLang="en-US" sz="2000" b="0" dirty="0"/>
              <a:t>세종대학교 컴퓨터공학과</a:t>
            </a:r>
            <a:br>
              <a:rPr lang="en-US" altLang="ko-KR" sz="2000" b="0" dirty="0"/>
            </a:br>
            <a:r>
              <a:rPr lang="ko-KR" altLang="en-US" sz="2000" b="0" dirty="0"/>
              <a:t>박 기호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94906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0FE6FA-A158-47B2-B697-7F0A66FF72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tIns="180000" anchor="ctr" anchorCtr="0"/>
          <a:lstStyle>
            <a:lvl1pPr>
              <a:defRPr/>
            </a:lvl1pPr>
          </a:lstStyle>
          <a:p>
            <a:r>
              <a:rPr lang="ko-KR" altLang="en-US" dirty="0"/>
              <a:t>슬라이드 제목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9396AE2-F363-4D34-A035-7BDA06B0F8F2}"/>
              </a:ext>
            </a:extLst>
          </p:cNvPr>
          <p:cNvSpPr txBox="1">
            <a:spLocks/>
          </p:cNvSpPr>
          <p:nvPr userDrawn="1"/>
        </p:nvSpPr>
        <p:spPr>
          <a:xfrm>
            <a:off x="3074644" y="6455200"/>
            <a:ext cx="3086100" cy="27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b="0" kern="12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멀티코어 프로그래밍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DCA33C9-5B4A-4158-8FF2-A08407CA39AF}"/>
              </a:ext>
            </a:extLst>
          </p:cNvPr>
          <p:cNvSpPr txBox="1">
            <a:spLocks/>
          </p:cNvSpPr>
          <p:nvPr userDrawn="1"/>
        </p:nvSpPr>
        <p:spPr>
          <a:xfrm>
            <a:off x="6546350" y="6455200"/>
            <a:ext cx="2057400" cy="27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b="0" kern="12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41CDF08-1F1C-4809-BF7A-51BCF32717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0" name="내용 개체 틀 17">
            <a:extLst>
              <a:ext uri="{FF2B5EF4-FFF2-40B4-BE49-F238E27FC236}">
                <a16:creationId xmlns:a16="http://schemas.microsoft.com/office/drawing/2014/main" id="{B66B9365-FC6F-44B6-B7DC-6A28E404F9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7646" y="1302104"/>
            <a:ext cx="8064000" cy="4982400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047170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041CDF08-1F1C-4809-BF7A-51BCF32717E1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12981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041CDF08-1F1C-4809-BF7A-51BCF32717E1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2542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041CDF08-1F1C-4809-BF7A-51BCF32717E1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19358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041CDF08-1F1C-4809-BF7A-51BCF32717E1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15770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041CDF08-1F1C-4809-BF7A-51BCF32717E1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19171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041CDF08-1F1C-4809-BF7A-51BCF32717E1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21701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041CDF08-1F1C-4809-BF7A-51BCF32717E1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05295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041CDF08-1F1C-4809-BF7A-51BCF32717E1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96019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041CDF08-1F1C-4809-BF7A-51BCF32717E1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44288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1">
            <a:extLst>
              <a:ext uri="{FF2B5EF4-FFF2-40B4-BE49-F238E27FC236}">
                <a16:creationId xmlns:a16="http://schemas.microsoft.com/office/drawing/2014/main" id="{3A6C785B-AD5F-4A67-A884-67DB43FF5B1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1052513"/>
          </a:xfrm>
          <a:prstGeom prst="rect">
            <a:avLst/>
          </a:prstGeom>
          <a:gradFill rotWithShape="1">
            <a:gsLst>
              <a:gs pos="0">
                <a:srgbClr val="89BDD7"/>
              </a:gs>
              <a:gs pos="100000">
                <a:srgbClr val="89BDD7">
                  <a:gamma/>
                  <a:tint val="0"/>
                  <a:invGamma/>
                </a:srgbClr>
              </a:gs>
            </a:gsLst>
            <a:lin ang="0" scaled="1"/>
          </a:gradFill>
          <a:ln w="28575" algn="ctr">
            <a:noFill/>
            <a:miter lim="800000"/>
            <a:headEnd/>
            <a:tailEnd/>
          </a:ln>
          <a:effectLst/>
        </p:spPr>
        <p:txBody>
          <a:bodyPr wrap="none" lIns="0" tIns="82800" rIns="0" bIns="82800" anchor="ctr"/>
          <a:lstStyle/>
          <a:p>
            <a:pPr>
              <a:spcBef>
                <a:spcPct val="30000"/>
              </a:spcBef>
              <a:defRPr/>
            </a:pPr>
            <a:endParaRPr lang="ko-KR" altLang="en-US"/>
          </a:p>
        </p:txBody>
      </p:sp>
      <p:sp>
        <p:nvSpPr>
          <p:cNvPr id="14" name="Line 32">
            <a:extLst>
              <a:ext uri="{FF2B5EF4-FFF2-40B4-BE49-F238E27FC236}">
                <a16:creationId xmlns:a16="http://schemas.microsoft.com/office/drawing/2014/main" id="{AA78263F-110D-4245-921B-0DEFAC382771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1052513"/>
            <a:ext cx="9144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 lIns="0" tIns="82800" rIns="0" bIns="82800" anchor="ctr"/>
          <a:lstStyle/>
          <a:p>
            <a:pPr>
              <a:spcBef>
                <a:spcPct val="30000"/>
              </a:spcBef>
              <a:defRPr/>
            </a:pPr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74644" y="6455200"/>
            <a:ext cx="3086100" cy="27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endParaRPr lang="ko-KR" altLang="en-US" dirty="0"/>
          </a:p>
        </p:txBody>
      </p:sp>
      <p:pic>
        <p:nvPicPr>
          <p:cNvPr id="8" name="Picture 5" descr="C:\Users\IY.JOO\Desktop\Untitled-1.png">
            <a:extLst>
              <a:ext uri="{FF2B5EF4-FFF2-40B4-BE49-F238E27FC236}">
                <a16:creationId xmlns:a16="http://schemas.microsoft.com/office/drawing/2014/main" id="{A4966162-DBA2-4F00-99B6-94CD8A0FF8D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537262" y="6455200"/>
            <a:ext cx="1511018" cy="270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</p:pic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81E76F7F-47A6-42D5-9D73-9FCF51C1F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313" y="259096"/>
            <a:ext cx="8380800" cy="601200"/>
          </a:xfrm>
          <a:prstGeom prst="roundRect">
            <a:avLst/>
          </a:prstGeom>
          <a:solidFill>
            <a:schemeClr val="bg1"/>
          </a:solidFill>
          <a:ln>
            <a:solidFill>
              <a:schemeClr val="accent4">
                <a:lumMod val="50000"/>
              </a:schemeClr>
            </a:solidFill>
          </a:ln>
          <a:effectLst>
            <a:outerShdw dist="63500" dir="2700000" algn="tl" rotWithShape="0">
              <a:prstClr val="black"/>
            </a:outerShdw>
          </a:effectLst>
        </p:spPr>
        <p:txBody>
          <a:bodyPr vert="horz" lIns="91440" tIns="180000" rIns="91440" bIns="45720" rtlCol="0" anchor="ctr">
            <a:no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EB935FB-AA39-433B-ABCA-FE0F7AA787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9750" y="1302104"/>
            <a:ext cx="8064000" cy="498240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  <a:endParaRPr lang="en-US" altLang="ko-KR" dirty="0"/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2BA8EC49-AF94-42A6-BCB3-3EAFA5C3C6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49338" y="6455200"/>
            <a:ext cx="2057400" cy="27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fld id="{041CDF08-1F1C-4809-BF7A-51BCF32717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63353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3200" kern="1200">
          <a:solidFill>
            <a:schemeClr val="accent4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KoPubWorld돋움체 Medium" panose="00000600000000000000" pitchFamily="2" charset="-127"/>
        <a:buChar char="•"/>
        <a:defRPr sz="1800" b="1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KoPubWorld돋움체 Medium" panose="00000600000000000000" pitchFamily="2" charset="-127"/>
        <a:buChar char="◦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0150" indent="-285750" algn="l" defTabSz="914400" rtl="0" eaLnBrk="1" latinLnBrk="1" hangingPunct="1">
        <a:lnSpc>
          <a:spcPct val="90000"/>
        </a:lnSpc>
        <a:spcBef>
          <a:spcPts val="500"/>
        </a:spcBef>
        <a:buFont typeface="KoPubWorld돋움체 Medium" panose="00000600000000000000" pitchFamily="2" charset="-127"/>
        <a:buChar char="+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KoPubWorld돋움체 Medium" panose="00000600000000000000" pitchFamily="2" charset="-127"/>
        <a:buChar char="-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00250" indent="-171450" algn="l" defTabSz="914400" rtl="0" eaLnBrk="1" latinLnBrk="1" hangingPunct="1">
        <a:lnSpc>
          <a:spcPct val="90000"/>
        </a:lnSpc>
        <a:spcBef>
          <a:spcPts val="500"/>
        </a:spcBef>
        <a:buFont typeface="KoPubWorld돋움체 Medium" panose="00000600000000000000" pitchFamily="2" charset="-127"/>
        <a:buChar char="-"/>
        <a:defRPr sz="1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706.03762" TargetMode="External"/><Relationship Id="rId2" Type="http://schemas.openxmlformats.org/officeDocument/2006/relationships/hyperlink" Target="https://arxiv.org/abs/2010.11929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s.pytorch.org/vision/main/models/vision_transformer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CCE270F-E3CB-474E-9EC0-E02F49BE57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Transformer</a:t>
            </a:r>
            <a:r>
              <a:rPr lang="ko-KR" altLang="en-US" dirty="0"/>
              <a:t> 모델 병렬처리</a:t>
            </a:r>
            <a:endParaRPr lang="en-US" altLang="ko-KR" dirty="0"/>
          </a:p>
        </p:txBody>
      </p:sp>
      <p:sp>
        <p:nvSpPr>
          <p:cNvPr id="6" name="부제목 4">
            <a:extLst>
              <a:ext uri="{FF2B5EF4-FFF2-40B4-BE49-F238E27FC236}">
                <a16:creationId xmlns:a16="http://schemas.microsoft.com/office/drawing/2014/main" id="{F4AEF0CE-84F5-489A-B5D9-D0DC2E363F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0738" y="4275138"/>
            <a:ext cx="7502525" cy="1663700"/>
          </a:xfrm>
        </p:spPr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세종대학교 컴퓨터공학과</a:t>
            </a:r>
            <a:endParaRPr lang="en-US" altLang="ko-KR" dirty="0"/>
          </a:p>
          <a:p>
            <a:r>
              <a:rPr lang="ko-KR" altLang="en-US" dirty="0"/>
              <a:t>박기호</a:t>
            </a: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3F4A1ED-DC57-4621-A669-58263D7E37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4313" y="1185863"/>
            <a:ext cx="8715375" cy="720725"/>
          </a:xfrm>
        </p:spPr>
        <p:txBody>
          <a:bodyPr/>
          <a:lstStyle/>
          <a:p>
            <a:r>
              <a:rPr lang="ko-KR" alt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멀티코어프로그래밍</a:t>
            </a:r>
            <a:r>
              <a:rPr lang="en-US" altLang="ko-K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r>
              <a:rPr lang="ko-KR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프로젝트</a:t>
            </a:r>
          </a:p>
        </p:txBody>
      </p:sp>
    </p:spTree>
    <p:extLst>
      <p:ext uri="{BB962C8B-B14F-4D97-AF65-F5344CB8AC3E}">
        <p14:creationId xmlns:p14="http://schemas.microsoft.com/office/powerpoint/2010/main" val="953978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80"/>
    </mc:Choice>
    <mc:Fallback xmlns="">
      <p:transition spd="slow" advTm="468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BCF0D9-2548-4CD5-A26D-78059A4F9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개요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BFD506-EB55-4931-9E94-BB6470CAD8D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93313" y="1302104"/>
            <a:ext cx="8380800" cy="4982400"/>
          </a:xfrm>
        </p:spPr>
        <p:txBody>
          <a:bodyPr/>
          <a:lstStyle/>
          <a:p>
            <a:r>
              <a:rPr lang="ko-KR" altLang="en-US" dirty="0"/>
              <a:t>인공신경망을 활용하여 이미지를 분류하는 예제</a:t>
            </a:r>
          </a:p>
          <a:p>
            <a:pPr lvl="1"/>
            <a:r>
              <a:rPr lang="ko-KR" altLang="en-US" dirty="0"/>
              <a:t>사전 학습된 모델</a:t>
            </a:r>
            <a:r>
              <a:rPr lang="en-US" altLang="ko-KR" dirty="0"/>
              <a:t>(ViT16)</a:t>
            </a:r>
            <a:r>
              <a:rPr lang="ko-KR" altLang="en-US" dirty="0"/>
              <a:t>을 사용해 이미지 분류를 실행</a:t>
            </a:r>
          </a:p>
          <a:p>
            <a:pPr lvl="1"/>
            <a:endParaRPr lang="ko-KR" altLang="en-US" dirty="0"/>
          </a:p>
          <a:p>
            <a:r>
              <a:rPr lang="en-US" altLang="ko-KR" dirty="0"/>
              <a:t>Vision Transformer</a:t>
            </a:r>
            <a:r>
              <a:rPr lang="ko-KR" altLang="en-US" dirty="0"/>
              <a:t>를 활용해 </a:t>
            </a:r>
            <a:r>
              <a:rPr lang="en-US" altLang="ko-KR" dirty="0"/>
              <a:t>ImageNet-1000 </a:t>
            </a:r>
            <a:r>
              <a:rPr lang="ko-KR" altLang="en-US" dirty="0"/>
              <a:t>데이터셋에</a:t>
            </a:r>
            <a:r>
              <a:rPr lang="en-US" altLang="ko-KR" dirty="0"/>
              <a:t> </a:t>
            </a:r>
            <a:r>
              <a:rPr lang="ko-KR" altLang="en-US" dirty="0"/>
              <a:t>대한 추론 수행</a:t>
            </a:r>
          </a:p>
          <a:p>
            <a:pPr lvl="1"/>
            <a:endParaRPr lang="ko-KR" altLang="en-US" dirty="0"/>
          </a:p>
          <a:p>
            <a:r>
              <a:rPr lang="en-US" altLang="ko-KR" dirty="0"/>
              <a:t>OpenCL</a:t>
            </a:r>
            <a:r>
              <a:rPr lang="ko-KR" altLang="en-US" dirty="0"/>
              <a:t>을 사용하여 </a:t>
            </a:r>
            <a:r>
              <a:rPr lang="en-US" altLang="ko-KR" dirty="0"/>
              <a:t>Transformer </a:t>
            </a:r>
            <a:r>
              <a:rPr lang="ko-KR" altLang="en-US" dirty="0"/>
              <a:t>모델 </a:t>
            </a:r>
            <a:r>
              <a:rPr lang="en-US" altLang="ko-KR" dirty="0"/>
              <a:t>GPU </a:t>
            </a:r>
            <a:r>
              <a:rPr lang="ko-KR" altLang="en-US" dirty="0"/>
              <a:t>가속 구현</a:t>
            </a:r>
            <a:endParaRPr lang="en-US" altLang="ko-KR" dirty="0"/>
          </a:p>
          <a:p>
            <a:pPr lvl="1"/>
            <a:r>
              <a:rPr lang="ko-KR" altLang="en-US" dirty="0">
                <a:solidFill>
                  <a:schemeClr val="tx1"/>
                </a:solidFill>
              </a:rPr>
              <a:t>정답과 동일한 결과를 출력</a:t>
            </a:r>
            <a:endParaRPr lang="en-US" altLang="ko-KR" dirty="0">
              <a:solidFill>
                <a:schemeClr val="tx1"/>
              </a:solidFill>
            </a:endParaRPr>
          </a:p>
          <a:p>
            <a:pPr lvl="1"/>
            <a:r>
              <a:rPr lang="ko-KR" altLang="en-US" u="sng" dirty="0">
                <a:solidFill>
                  <a:schemeClr val="accent2"/>
                </a:solidFill>
              </a:rPr>
              <a:t>수행 시간이 짧을 수록 </a:t>
            </a:r>
            <a:r>
              <a:rPr lang="ko-KR" altLang="en-US" dirty="0"/>
              <a:t>높은 점수 부여 </a:t>
            </a:r>
            <a:r>
              <a:rPr lang="en-US" altLang="ko-KR" dirty="0"/>
              <a:t>(</a:t>
            </a:r>
            <a:r>
              <a:rPr lang="ko-KR" altLang="en-US" dirty="0"/>
              <a:t>이미지 데이터 </a:t>
            </a:r>
            <a:r>
              <a:rPr lang="en-US" altLang="ko-KR" dirty="0"/>
              <a:t>100</a:t>
            </a:r>
            <a:r>
              <a:rPr lang="ko-KR" altLang="en-US" dirty="0"/>
              <a:t>장 기준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수행 시간 뿐 아니라 적용한 가속 기법도 확인</a:t>
            </a:r>
          </a:p>
        </p:txBody>
      </p:sp>
    </p:spTree>
    <p:extLst>
      <p:ext uri="{BB962C8B-B14F-4D97-AF65-F5344CB8AC3E}">
        <p14:creationId xmlns:p14="http://schemas.microsoft.com/office/powerpoint/2010/main" val="3467929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96"/>
    </mc:Choice>
    <mc:Fallback xmlns="">
      <p:transition spd="slow" advTm="1296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6E7011-8CF5-41C5-A149-D41386CA3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인공 신경망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BFD65B-9816-4D7A-A762-BFCA030A86D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뉴런의 동작을 모사한 구조 및 수행</a:t>
            </a:r>
            <a:endParaRPr lang="en-US" altLang="ko-KR" dirty="0"/>
          </a:p>
        </p:txBody>
      </p:sp>
      <p:pic>
        <p:nvPicPr>
          <p:cNvPr id="4" name="Picture 2" descr="neural network nodeì ëí ì´ë¯¸ì§ ê²ìê²°ê³¼">
            <a:extLst>
              <a:ext uri="{FF2B5EF4-FFF2-40B4-BE49-F238E27FC236}">
                <a16:creationId xmlns:a16="http://schemas.microsoft.com/office/drawing/2014/main" id="{0F74BF72-18B8-4C00-AFC3-4E2A4D65D3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072" y="2237820"/>
            <a:ext cx="4485171" cy="1944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FA6A105-0A7B-47B5-AC1D-34F42D624B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608" y="2132856"/>
            <a:ext cx="3459341" cy="2311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759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56"/>
    </mc:Choice>
    <mc:Fallback xmlns="">
      <p:transition spd="slow" advTm="656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A1D9FB-3593-4675-BECE-398F5841C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인공 신경망의 개요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06A396-A319-401E-AD4F-B6C7E4CD67A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인공</a:t>
            </a:r>
            <a:r>
              <a:rPr lang="en-US" altLang="ko-KR" dirty="0"/>
              <a:t> </a:t>
            </a:r>
            <a:r>
              <a:rPr lang="ko-KR" altLang="en-US" dirty="0"/>
              <a:t>신경망의 데이터 인식 과정</a:t>
            </a:r>
            <a:endParaRPr lang="en-US" altLang="ko-KR" dirty="0"/>
          </a:p>
        </p:txBody>
      </p:sp>
      <p:pic>
        <p:nvPicPr>
          <p:cNvPr id="4" name="Picture 4" descr="https://www.cs.toronto.edu/~kriz/cifar-10-sample/cat1.png">
            <a:extLst>
              <a:ext uri="{FF2B5EF4-FFF2-40B4-BE49-F238E27FC236}">
                <a16:creationId xmlns:a16="http://schemas.microsoft.com/office/drawing/2014/main" id="{F112D714-96B9-42A4-9FFF-0E0EAB8D0A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864" y="2888939"/>
            <a:ext cx="1512168" cy="1512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8" descr="ì¸ê³µ ì ê²½ë§ pngì ëí ì´ë¯¸ì§ ê²ìê²°ê³¼">
            <a:extLst>
              <a:ext uri="{FF2B5EF4-FFF2-40B4-BE49-F238E27FC236}">
                <a16:creationId xmlns:a16="http://schemas.microsoft.com/office/drawing/2014/main" id="{62F3277A-8DD5-4A30-BDEB-3D5A377E0E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7606" y="2163885"/>
            <a:ext cx="4762500" cy="2962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C372F60-D785-4F65-8EA7-64F8F3F33C02}"/>
              </a:ext>
            </a:extLst>
          </p:cNvPr>
          <p:cNvSpPr txBox="1"/>
          <p:nvPr/>
        </p:nvSpPr>
        <p:spPr>
          <a:xfrm>
            <a:off x="7498819" y="3531694"/>
            <a:ext cx="7441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/>
              <a:t>Cat</a:t>
            </a:r>
            <a:endParaRPr lang="ko-KR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028911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7"/>
    </mc:Choice>
    <mc:Fallback xmlns="">
      <p:transition spd="slow" advTm="627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0C7AD3-E22E-497A-B915-76234DBC6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Transformer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3332659-90BB-4558-8B36-B7919D1F3E1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93313" y="1302104"/>
            <a:ext cx="8380800" cy="4982400"/>
          </a:xfrm>
        </p:spPr>
        <p:txBody>
          <a:bodyPr/>
          <a:lstStyle/>
          <a:p>
            <a:r>
              <a:rPr lang="en-US" altLang="ko-KR" sz="2000" kern="0" dirty="0"/>
              <a:t>Transformer</a:t>
            </a:r>
          </a:p>
          <a:p>
            <a:pPr lvl="1"/>
            <a:r>
              <a:rPr lang="ko-KR" altLang="en-US" dirty="0"/>
              <a:t>입력 간의 관계를 파악하기 위해 </a:t>
            </a:r>
            <a:r>
              <a:rPr lang="en-US" altLang="ko-KR" dirty="0"/>
              <a:t>Self-Attention </a:t>
            </a:r>
            <a:r>
              <a:rPr lang="ko-KR" altLang="en-US" dirty="0"/>
              <a:t>메커니즘을 사용하는 신경망 구조</a:t>
            </a:r>
            <a:endParaRPr lang="en-US" altLang="ko-KR" dirty="0"/>
          </a:p>
          <a:p>
            <a:pPr lvl="1"/>
            <a:r>
              <a:rPr lang="en-US" altLang="ko-KR" dirty="0"/>
              <a:t>N</a:t>
            </a:r>
            <a:r>
              <a:rPr lang="ko-KR" altLang="en-US" dirty="0"/>
              <a:t>개의 </a:t>
            </a:r>
            <a:r>
              <a:rPr lang="en-US" altLang="ko-KR" dirty="0"/>
              <a:t>Encoder</a:t>
            </a:r>
            <a:r>
              <a:rPr lang="ko-KR" altLang="en-US" dirty="0"/>
              <a:t>와 </a:t>
            </a:r>
            <a:r>
              <a:rPr lang="en-US" altLang="ko-KR" dirty="0" err="1"/>
              <a:t>Deocder</a:t>
            </a:r>
            <a:r>
              <a:rPr lang="ko-KR" altLang="en-US" dirty="0"/>
              <a:t>로 구성</a:t>
            </a:r>
            <a:endParaRPr lang="en-US" altLang="ko-KR" dirty="0"/>
          </a:p>
        </p:txBody>
      </p:sp>
      <p:sp>
        <p:nvSpPr>
          <p:cNvPr id="5" name="AutoShape 2" descr="transformer ANN ...">
            <a:extLst>
              <a:ext uri="{FF2B5EF4-FFF2-40B4-BE49-F238E27FC236}">
                <a16:creationId xmlns:a16="http://schemas.microsoft.com/office/drawing/2014/main" id="{2CFA7B39-1AE9-41AA-FFE9-38FD312779C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" name="AutoShape 4" descr="transformer ANN ...">
            <a:extLst>
              <a:ext uri="{FF2B5EF4-FFF2-40B4-BE49-F238E27FC236}">
                <a16:creationId xmlns:a16="http://schemas.microsoft.com/office/drawing/2014/main" id="{FCA1D000-C581-4040-AC08-46074583825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2040556" cy="2040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7285179-6D43-517A-D2B5-5D088945C5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4763" y="2301590"/>
            <a:ext cx="3789673" cy="3982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260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23"/>
    </mc:Choice>
    <mc:Fallback xmlns="">
      <p:transition spd="slow" advTm="423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E22A8-4664-280E-B874-141DB021F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F98A8D-DEEC-B021-F522-B06FA6AFA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Vision Transformer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C9398B-EAD4-D0B5-F2F2-197CED1F08B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93313" y="1302104"/>
            <a:ext cx="8380800" cy="4982400"/>
          </a:xfrm>
        </p:spPr>
        <p:txBody>
          <a:bodyPr/>
          <a:lstStyle/>
          <a:p>
            <a:r>
              <a:rPr lang="en-US" altLang="ko-KR" sz="2000" kern="0" dirty="0"/>
              <a:t>Vision Transformer</a:t>
            </a:r>
          </a:p>
          <a:p>
            <a:pPr lvl="1"/>
            <a:r>
              <a:rPr lang="en-US" altLang="ko-KR" dirty="0"/>
              <a:t>Transformer</a:t>
            </a:r>
            <a:r>
              <a:rPr lang="ko-KR" altLang="en-US" dirty="0"/>
              <a:t>의 인코더 구조를 활용하여 이미지를 분류하는 모델</a:t>
            </a:r>
            <a:endParaRPr lang="en-US" altLang="ko-KR" dirty="0"/>
          </a:p>
          <a:p>
            <a:pPr lvl="1"/>
            <a:r>
              <a:rPr lang="ko-KR" altLang="en-US" dirty="0"/>
              <a:t>이미지를 고정 크기의 패치로 나누고</a:t>
            </a:r>
            <a:r>
              <a:rPr lang="en-US" altLang="ko-KR" dirty="0"/>
              <a:t>, </a:t>
            </a:r>
            <a:r>
              <a:rPr lang="ko-KR" altLang="en-US" dirty="0"/>
              <a:t>각 패치를 </a:t>
            </a:r>
            <a:r>
              <a:rPr lang="ko-KR" altLang="en-US" dirty="0" err="1"/>
              <a:t>임베딩하여</a:t>
            </a:r>
            <a:r>
              <a:rPr lang="ko-KR" altLang="en-US" dirty="0"/>
              <a:t> 시퀀스 형태로 </a:t>
            </a:r>
            <a:r>
              <a:rPr lang="en-US" altLang="ko-KR" dirty="0"/>
              <a:t>Transformer</a:t>
            </a:r>
            <a:r>
              <a:rPr lang="ko-KR" altLang="en-US" dirty="0"/>
              <a:t>에 입력</a:t>
            </a:r>
            <a:endParaRPr lang="en-US" altLang="ko-KR" kern="0" dirty="0"/>
          </a:p>
        </p:txBody>
      </p:sp>
      <p:sp>
        <p:nvSpPr>
          <p:cNvPr id="5" name="AutoShape 2" descr="transformer ANN ...">
            <a:extLst>
              <a:ext uri="{FF2B5EF4-FFF2-40B4-BE49-F238E27FC236}">
                <a16:creationId xmlns:a16="http://schemas.microsoft.com/office/drawing/2014/main" id="{10F4B4DC-ADE3-E812-1950-45FC790BFEC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" name="AutoShape 4" descr="transformer ANN ...">
            <a:extLst>
              <a:ext uri="{FF2B5EF4-FFF2-40B4-BE49-F238E27FC236}">
                <a16:creationId xmlns:a16="http://schemas.microsoft.com/office/drawing/2014/main" id="{80509172-7A0C-BFD7-3E5B-BDEFEE724C1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2040556" cy="2040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2050" name="Picture 2" descr="Vision Transformer (ViT)">
            <a:extLst>
              <a:ext uri="{FF2B5EF4-FFF2-40B4-BE49-F238E27FC236}">
                <a16:creationId xmlns:a16="http://schemas.microsoft.com/office/drawing/2014/main" id="{7D61120E-4927-DDF7-D39B-862B854F91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652" y="2806740"/>
            <a:ext cx="6817895" cy="3443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1041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8"/>
    </mc:Choice>
    <mc:Fallback xmlns="">
      <p:transition spd="slow" advTm="358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3209F-00AC-5C88-F6EA-D6CCB4283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8B6501-9EBF-BDDB-55C4-2686CAF44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Vision Transformer </a:t>
            </a:r>
            <a:r>
              <a:rPr lang="ko-KR" altLang="en-US" dirty="0"/>
              <a:t>구조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4235F3-F8A1-176C-6E59-18C472B3630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93313" y="1302104"/>
            <a:ext cx="8380800" cy="382858"/>
          </a:xfrm>
        </p:spPr>
        <p:txBody>
          <a:bodyPr/>
          <a:lstStyle/>
          <a:p>
            <a:r>
              <a:rPr lang="en-US" altLang="ko-KR" sz="2000" kern="0" dirty="0"/>
              <a:t>Vision Transformer</a:t>
            </a:r>
          </a:p>
        </p:txBody>
      </p:sp>
      <p:sp>
        <p:nvSpPr>
          <p:cNvPr id="5" name="AutoShape 2" descr="transformer ANN ...">
            <a:extLst>
              <a:ext uri="{FF2B5EF4-FFF2-40B4-BE49-F238E27FC236}">
                <a16:creationId xmlns:a16="http://schemas.microsoft.com/office/drawing/2014/main" id="{5D59137B-BD70-5C4D-29F8-076979B2471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" name="AutoShape 4" descr="transformer ANN ...">
            <a:extLst>
              <a:ext uri="{FF2B5EF4-FFF2-40B4-BE49-F238E27FC236}">
                <a16:creationId xmlns:a16="http://schemas.microsoft.com/office/drawing/2014/main" id="{54B4C953-F758-130C-1E38-187D7C40E9B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2040556" cy="2040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2050" name="Picture 2" descr="Vision Transformer (ViT)">
            <a:extLst>
              <a:ext uri="{FF2B5EF4-FFF2-40B4-BE49-F238E27FC236}">
                <a16:creationId xmlns:a16="http://schemas.microsoft.com/office/drawing/2014/main" id="{0C9BC6B6-8FEF-67F8-FE0F-01F1BD0F7C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490"/>
          <a:stretch/>
        </p:blipFill>
        <p:spPr bwMode="auto">
          <a:xfrm>
            <a:off x="486670" y="1859763"/>
            <a:ext cx="4670957" cy="3443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7D3B6FE5-B0E3-B765-5562-F02CE4D0FFA8}"/>
              </a:ext>
            </a:extLst>
          </p:cNvPr>
          <p:cNvSpPr/>
          <p:nvPr/>
        </p:nvSpPr>
        <p:spPr>
          <a:xfrm>
            <a:off x="486670" y="3753422"/>
            <a:ext cx="4670957" cy="154961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32E0083-324D-05C2-431E-3715FA572C6C}"/>
              </a:ext>
            </a:extLst>
          </p:cNvPr>
          <p:cNvSpPr/>
          <p:nvPr/>
        </p:nvSpPr>
        <p:spPr>
          <a:xfrm>
            <a:off x="1512374" y="2866489"/>
            <a:ext cx="3614431" cy="82821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10081B64-29BE-E474-DD3C-336E0D3AF431}"/>
              </a:ext>
            </a:extLst>
          </p:cNvPr>
          <p:cNvSpPr/>
          <p:nvPr/>
        </p:nvSpPr>
        <p:spPr>
          <a:xfrm>
            <a:off x="698643" y="2085674"/>
            <a:ext cx="1623317" cy="97780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081732DD-3D0B-68EF-E6D0-D12BCC48B3C4}"/>
              </a:ext>
            </a:extLst>
          </p:cNvPr>
          <p:cNvSpPr txBox="1">
            <a:spLocks/>
          </p:cNvSpPr>
          <p:nvPr/>
        </p:nvSpPr>
        <p:spPr>
          <a:xfrm>
            <a:off x="5157627" y="4449278"/>
            <a:ext cx="2379044" cy="382859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KoPubWorld돋움체 Medium" panose="00000600000000000000" pitchFamily="2" charset="-127"/>
              <a:buChar char="•"/>
              <a:defRPr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KoPubWorld돋움체 Medium" panose="00000600000000000000" pitchFamily="2" charset="-127"/>
              <a:buChar char="◦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0150" indent="-2857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KoPubWorld돋움체 Medium" panose="00000600000000000000" pitchFamily="2" charset="-127"/>
              <a:buChar char="+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KoPubWorld돋움체 Medium" panose="00000600000000000000" pitchFamily="2" charset="-127"/>
              <a:buChar char="-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00250" indent="-1714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KoPubWorld돋움체 Medium" panose="00000600000000000000" pitchFamily="2" charset="-127"/>
              <a:buChar char="-"/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/>
              <a:t>① </a:t>
            </a:r>
            <a:r>
              <a:rPr lang="ko-KR" altLang="en-US" dirty="0"/>
              <a:t>입력 형태 생성</a:t>
            </a:r>
            <a:endParaRPr lang="en-US" altLang="ko-KR" dirty="0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FB1760E0-87A8-56E4-1B70-40ACF7E2A191}"/>
              </a:ext>
            </a:extLst>
          </p:cNvPr>
          <p:cNvSpPr txBox="1">
            <a:spLocks/>
          </p:cNvSpPr>
          <p:nvPr/>
        </p:nvSpPr>
        <p:spPr>
          <a:xfrm>
            <a:off x="5157626" y="3102934"/>
            <a:ext cx="4085331" cy="382859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KoPubWorld돋움체 Medium" panose="00000600000000000000" pitchFamily="2" charset="-127"/>
              <a:buChar char="•"/>
              <a:defRPr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KoPubWorld돋움체 Medium" panose="00000600000000000000" pitchFamily="2" charset="-127"/>
              <a:buChar char="◦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0150" indent="-2857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KoPubWorld돋움체 Medium" panose="00000600000000000000" pitchFamily="2" charset="-127"/>
              <a:buChar char="+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KoPubWorld돋움체 Medium" panose="00000600000000000000" pitchFamily="2" charset="-127"/>
              <a:buChar char="-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00250" indent="-1714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KoPubWorld돋움체 Medium" panose="00000600000000000000" pitchFamily="2" charset="-127"/>
              <a:buChar char="-"/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dirty="0"/>
              <a:t>② </a:t>
            </a:r>
            <a:r>
              <a:rPr lang="ko-KR" altLang="en-US" dirty="0"/>
              <a:t>인코더</a:t>
            </a:r>
            <a:r>
              <a:rPr lang="en-US" altLang="ko-KR" dirty="0"/>
              <a:t>(Transformer Encoder)</a:t>
            </a:r>
            <a:r>
              <a:rPr lang="ko-KR" altLang="en-US" dirty="0"/>
              <a:t>  </a:t>
            </a:r>
            <a:endParaRPr lang="en-US" altLang="ko-KR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746F47DA-3DAF-32B8-E717-4020017E72AA}"/>
              </a:ext>
            </a:extLst>
          </p:cNvPr>
          <p:cNvSpPr txBox="1">
            <a:spLocks/>
          </p:cNvSpPr>
          <p:nvPr/>
        </p:nvSpPr>
        <p:spPr>
          <a:xfrm>
            <a:off x="2345355" y="2349815"/>
            <a:ext cx="3614431" cy="382859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KoPubWorld돋움체 Medium" panose="00000600000000000000" pitchFamily="2" charset="-127"/>
              <a:buChar char="•"/>
              <a:defRPr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KoPubWorld돋움체 Medium" panose="00000600000000000000" pitchFamily="2" charset="-127"/>
              <a:buChar char="◦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0150" indent="-2857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KoPubWorld돋움체 Medium" panose="00000600000000000000" pitchFamily="2" charset="-127"/>
              <a:buChar char="+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KoPubWorld돋움체 Medium" panose="00000600000000000000" pitchFamily="2" charset="-127"/>
              <a:buChar char="-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00250" indent="-1714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KoPubWorld돋움체 Medium" panose="00000600000000000000" pitchFamily="2" charset="-127"/>
              <a:buChar char="-"/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dirty="0"/>
              <a:t>③ </a:t>
            </a:r>
            <a:r>
              <a:rPr lang="ko-KR" altLang="en-US" dirty="0"/>
              <a:t>결과 출력 </a:t>
            </a:r>
            <a:r>
              <a:rPr lang="en-US" altLang="ko-KR" dirty="0"/>
              <a:t>(class </a:t>
            </a:r>
            <a:r>
              <a:rPr lang="ko-KR" altLang="en-US" dirty="0"/>
              <a:t>분류</a:t>
            </a:r>
            <a:r>
              <a:rPr lang="en-US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85691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8"/>
    </mc:Choice>
    <mc:Fallback xmlns="">
      <p:transition spd="slow" advTm="358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62652-39D9-F573-3386-73DD5C05B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3E6ACD-7C5C-3A49-5EE4-4BF561C78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ViT</a:t>
            </a:r>
            <a:r>
              <a:rPr lang="en-US" altLang="ko-KR" dirty="0"/>
              <a:t> </a:t>
            </a:r>
            <a:r>
              <a:rPr lang="ko-KR" altLang="en-US" dirty="0"/>
              <a:t>구조 </a:t>
            </a:r>
            <a:r>
              <a:rPr lang="en-US" altLang="ko-KR" dirty="0"/>
              <a:t>-</a:t>
            </a:r>
            <a:r>
              <a:rPr lang="ko-KR" altLang="en-US" dirty="0"/>
              <a:t> 입력 형태 생성</a:t>
            </a:r>
          </a:p>
        </p:txBody>
      </p:sp>
      <p:sp>
        <p:nvSpPr>
          <p:cNvPr id="5" name="AutoShape 2" descr="transformer ANN ...">
            <a:extLst>
              <a:ext uri="{FF2B5EF4-FFF2-40B4-BE49-F238E27FC236}">
                <a16:creationId xmlns:a16="http://schemas.microsoft.com/office/drawing/2014/main" id="{9A11B02F-582E-60E7-2001-DBCCAC1C37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75116" y="256043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4CDDA87-AC34-7C2B-1638-81546F8AFB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7798" y="1929861"/>
            <a:ext cx="4236202" cy="1450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CDC04706-F602-CA5D-307F-25CA871C138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93313" y="1302104"/>
            <a:ext cx="8380800" cy="1431264"/>
          </a:xfrm>
        </p:spPr>
        <p:txBody>
          <a:bodyPr>
            <a:normAutofit/>
          </a:bodyPr>
          <a:lstStyle/>
          <a:p>
            <a:r>
              <a:rPr lang="en-US" altLang="ko-KR" sz="2000" kern="0" dirty="0"/>
              <a:t>Conv2d &amp; Flatten Patches</a:t>
            </a:r>
          </a:p>
          <a:p>
            <a:pPr lvl="1"/>
            <a:r>
              <a:rPr lang="ko-KR" altLang="en-US" dirty="0"/>
              <a:t>이미지를 </a:t>
            </a:r>
            <a:r>
              <a:rPr lang="en-US" altLang="ko-KR" dirty="0"/>
              <a:t>patch </a:t>
            </a:r>
            <a:r>
              <a:rPr lang="ko-KR" altLang="en-US" dirty="0"/>
              <a:t>단위로 분할하고 각 </a:t>
            </a:r>
            <a:r>
              <a:rPr lang="en-US" altLang="ko-KR" dirty="0"/>
              <a:t>patch</a:t>
            </a:r>
            <a:r>
              <a:rPr lang="ko-KR" altLang="en-US" dirty="0"/>
              <a:t>를 </a:t>
            </a:r>
            <a:r>
              <a:rPr lang="en-US" altLang="ko-KR" dirty="0"/>
              <a:t>embedding vector</a:t>
            </a:r>
            <a:r>
              <a:rPr lang="ko-KR" altLang="en-US" dirty="0"/>
              <a:t>로 변환 후</a:t>
            </a:r>
            <a:r>
              <a:rPr lang="en-US" altLang="ko-KR" dirty="0"/>
              <a:t>,</a:t>
            </a:r>
          </a:p>
          <a:p>
            <a:pPr lvl="1"/>
            <a:r>
              <a:rPr lang="en-US" altLang="ko-KR" dirty="0"/>
              <a:t>Patch embedding </a:t>
            </a:r>
            <a:r>
              <a:rPr lang="ko-KR" altLang="en-US" dirty="0"/>
              <a:t>결과를 </a:t>
            </a:r>
            <a:r>
              <a:rPr lang="en-US" altLang="ko-KR" dirty="0"/>
              <a:t>token sequence </a:t>
            </a:r>
            <a:r>
              <a:rPr lang="ko-KR" altLang="en-US" dirty="0"/>
              <a:t>형태로 변환</a:t>
            </a:r>
            <a:endParaRPr lang="en-US" altLang="ko-KR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6464A006-3ABC-6FF5-5936-C78D6A3BA401}"/>
              </a:ext>
            </a:extLst>
          </p:cNvPr>
          <p:cNvSpPr txBox="1">
            <a:spLocks/>
          </p:cNvSpPr>
          <p:nvPr/>
        </p:nvSpPr>
        <p:spPr>
          <a:xfrm>
            <a:off x="325984" y="3225075"/>
            <a:ext cx="8380800" cy="743006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KoPubWorld돋움체 Medium" panose="00000600000000000000" pitchFamily="2" charset="-127"/>
              <a:buChar char="•"/>
              <a:defRPr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KoPubWorld돋움체 Medium" panose="00000600000000000000" pitchFamily="2" charset="-127"/>
              <a:buChar char="◦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0150" indent="-2857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KoPubWorld돋움체 Medium" panose="00000600000000000000" pitchFamily="2" charset="-127"/>
              <a:buChar char="+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KoPubWorld돋움체 Medium" panose="00000600000000000000" pitchFamily="2" charset="-127"/>
              <a:buChar char="-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00250" indent="-1714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KoPubWorld돋움체 Medium" panose="00000600000000000000" pitchFamily="2" charset="-127"/>
              <a:buChar char="-"/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kern="0" dirty="0"/>
              <a:t>Class Token</a:t>
            </a:r>
          </a:p>
          <a:p>
            <a:pPr lvl="1"/>
            <a:r>
              <a:rPr lang="ko-KR" altLang="en-US" dirty="0"/>
              <a:t>맨 앞에 추가하여 전체 이미지 정보를 요약</a:t>
            </a:r>
            <a:endParaRPr lang="en-US" altLang="ko-KR" kern="0" dirty="0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0BAD10D1-87E2-453A-8F8B-57AB680662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38" t="44695" r="41801" b="43975"/>
          <a:stretch/>
        </p:blipFill>
        <p:spPr bwMode="auto">
          <a:xfrm>
            <a:off x="1102710" y="3957449"/>
            <a:ext cx="2566219" cy="373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>
            <a:extLst>
              <a:ext uri="{FF2B5EF4-FFF2-40B4-BE49-F238E27FC236}">
                <a16:creationId xmlns:a16="http://schemas.microsoft.com/office/drawing/2014/main" id="{A207160F-F8AC-B88B-606F-558F6B1227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61" t="61839" r="32235" b="26832"/>
          <a:stretch/>
        </p:blipFill>
        <p:spPr bwMode="auto">
          <a:xfrm>
            <a:off x="4160542" y="3957449"/>
            <a:ext cx="3106993" cy="373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AF5BB940-8ECD-2CEC-9F1C-562260B8DE81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>
            <a:off x="3668929" y="4144262"/>
            <a:ext cx="49161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B9EAC01D-9C12-804A-B9E8-967BD7FF16EE}"/>
              </a:ext>
            </a:extLst>
          </p:cNvPr>
          <p:cNvSpPr txBox="1">
            <a:spLocks/>
          </p:cNvSpPr>
          <p:nvPr/>
        </p:nvSpPr>
        <p:spPr>
          <a:xfrm>
            <a:off x="325984" y="4893669"/>
            <a:ext cx="8380800" cy="743006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KoPubWorld돋움체 Medium" panose="00000600000000000000" pitchFamily="2" charset="-127"/>
              <a:buChar char="•"/>
              <a:defRPr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KoPubWorld돋움체 Medium" panose="00000600000000000000" pitchFamily="2" charset="-127"/>
              <a:buChar char="◦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0150" indent="-2857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KoPubWorld돋움체 Medium" panose="00000600000000000000" pitchFamily="2" charset="-127"/>
              <a:buChar char="+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KoPubWorld돋움체 Medium" panose="00000600000000000000" pitchFamily="2" charset="-127"/>
              <a:buChar char="-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00250" indent="-1714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KoPubWorld돋움체 Medium" panose="00000600000000000000" pitchFamily="2" charset="-127"/>
              <a:buChar char="-"/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dirty="0"/>
              <a:t>Positional Embedding</a:t>
            </a:r>
            <a:endParaRPr lang="en-US" altLang="ko-KR" sz="2000" kern="0" dirty="0"/>
          </a:p>
          <a:p>
            <a:pPr lvl="1"/>
            <a:r>
              <a:rPr lang="en-US" altLang="ko-KR" dirty="0"/>
              <a:t>Transformer</a:t>
            </a:r>
            <a:r>
              <a:rPr lang="ko-KR" altLang="en-US" dirty="0"/>
              <a:t>가 </a:t>
            </a:r>
            <a:r>
              <a:rPr lang="en-US" altLang="ko-KR" dirty="0"/>
              <a:t>patch</a:t>
            </a:r>
            <a:r>
              <a:rPr lang="ko-KR" altLang="en-US" dirty="0"/>
              <a:t>들의 공간적 순서를 인식할 수 있는 정보를 더함</a:t>
            </a:r>
            <a:endParaRPr lang="en-US" altLang="ko-KR" kern="0" dirty="0"/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4455FD0B-9D18-16F1-FB54-85B8A9468D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61" t="61839" r="32235" b="26832"/>
          <a:stretch/>
        </p:blipFill>
        <p:spPr bwMode="auto">
          <a:xfrm>
            <a:off x="601265" y="5664048"/>
            <a:ext cx="3106993" cy="373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">
            <a:extLst>
              <a:ext uri="{FF2B5EF4-FFF2-40B4-BE49-F238E27FC236}">
                <a16:creationId xmlns:a16="http://schemas.microsoft.com/office/drawing/2014/main" id="{CEF34CF7-6931-6816-996C-8D751782AA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99" t="78066" r="6237" b="8274"/>
          <a:stretch/>
        </p:blipFill>
        <p:spPr bwMode="auto">
          <a:xfrm>
            <a:off x="4160542" y="5642705"/>
            <a:ext cx="4414684" cy="416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69233B32-1BFC-7B68-077F-417790624C2B}"/>
              </a:ext>
            </a:extLst>
          </p:cNvPr>
          <p:cNvCxnSpPr>
            <a:cxnSpLocks/>
            <a:stCxn id="16" idx="3"/>
            <a:endCxn id="17" idx="1"/>
          </p:cNvCxnSpPr>
          <p:nvPr/>
        </p:nvCxnSpPr>
        <p:spPr>
          <a:xfrm>
            <a:off x="3708258" y="5850861"/>
            <a:ext cx="452284" cy="1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8336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1"/>
    </mc:Choice>
    <mc:Fallback xmlns="">
      <p:transition spd="slow" advTm="18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BE828-69BE-4ACA-97DC-7B6974F71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1D043D-4AAF-CC55-122C-64821FCED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ViT</a:t>
            </a:r>
            <a:r>
              <a:rPr lang="en-US" altLang="ko-KR" dirty="0"/>
              <a:t> </a:t>
            </a:r>
            <a:r>
              <a:rPr lang="ko-KR" altLang="en-US" dirty="0"/>
              <a:t>구조 </a:t>
            </a:r>
            <a:r>
              <a:rPr lang="en-US" altLang="ko-KR" dirty="0"/>
              <a:t>-</a:t>
            </a:r>
            <a:r>
              <a:rPr lang="ko-KR" altLang="en-US" dirty="0"/>
              <a:t> 인코더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6493A5-A0BA-CCFA-553C-729954843A4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93312" y="1302104"/>
            <a:ext cx="8380801" cy="743006"/>
          </a:xfrm>
        </p:spPr>
        <p:txBody>
          <a:bodyPr>
            <a:normAutofit fontScale="92500"/>
          </a:bodyPr>
          <a:lstStyle/>
          <a:p>
            <a:r>
              <a:rPr lang="en-US" altLang="ko-KR" sz="2000" kern="0" dirty="0" err="1"/>
              <a:t>ViT</a:t>
            </a:r>
            <a:r>
              <a:rPr lang="ko-KR" altLang="en-US" sz="2000" kern="0" dirty="0"/>
              <a:t>의 </a:t>
            </a:r>
            <a:r>
              <a:rPr lang="en-US" altLang="ko-KR" sz="2000" kern="0" dirty="0"/>
              <a:t>Encoder</a:t>
            </a:r>
          </a:p>
          <a:p>
            <a:pPr lvl="1"/>
            <a:r>
              <a:rPr lang="ko-KR" altLang="en-US" dirty="0"/>
              <a:t>이미지 전체에 대한 </a:t>
            </a:r>
            <a:r>
              <a:rPr lang="ko-KR" altLang="en-US" b="1" dirty="0"/>
              <a:t>전역적인 </a:t>
            </a:r>
            <a:r>
              <a:rPr lang="en-US" altLang="ko-KR" b="1" dirty="0"/>
              <a:t>feature representation</a:t>
            </a:r>
            <a:r>
              <a:rPr lang="ko-KR" altLang="en-US" dirty="0"/>
              <a:t>을 학습하는 핵심 역할을 수행</a:t>
            </a:r>
            <a:endParaRPr lang="en-US" altLang="ko-KR" kern="0" dirty="0"/>
          </a:p>
        </p:txBody>
      </p:sp>
      <p:pic>
        <p:nvPicPr>
          <p:cNvPr id="4" name="Picture 2" descr="Vision Transformer (ViT)">
            <a:extLst>
              <a:ext uri="{FF2B5EF4-FFF2-40B4-BE49-F238E27FC236}">
                <a16:creationId xmlns:a16="http://schemas.microsoft.com/office/drawing/2014/main" id="{E10CE4B2-01B1-CA03-5EC9-112047DD12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319"/>
          <a:stretch/>
        </p:blipFill>
        <p:spPr bwMode="auto">
          <a:xfrm>
            <a:off x="540775" y="2250944"/>
            <a:ext cx="1648311" cy="3515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44835F70-1844-6145-9C4F-1A826275C0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05028"/>
              </p:ext>
            </p:extLst>
          </p:nvPr>
        </p:nvGraphicFramePr>
        <p:xfrm>
          <a:off x="2703870" y="2561779"/>
          <a:ext cx="5899355" cy="28713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74655">
                  <a:extLst>
                    <a:ext uri="{9D8B030D-6E8A-4147-A177-3AD203B41FA5}">
                      <a16:colId xmlns:a16="http://schemas.microsoft.com/office/drawing/2014/main" val="848006394"/>
                    </a:ext>
                  </a:extLst>
                </a:gridCol>
                <a:gridCol w="4224700">
                  <a:extLst>
                    <a:ext uri="{9D8B030D-6E8A-4147-A177-3AD203B41FA5}">
                      <a16:colId xmlns:a16="http://schemas.microsoft.com/office/drawing/2014/main" val="2104531191"/>
                    </a:ext>
                  </a:extLst>
                </a:gridCol>
              </a:tblGrid>
              <a:tr h="42811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 dirty="0"/>
                        <a:t>Module</a:t>
                      </a:r>
                      <a:endParaRPr lang="ko-KR" altLang="en-US" sz="1600" b="1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/>
                        <a:t>내용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1132178"/>
                  </a:ext>
                </a:extLst>
              </a:tr>
              <a:tr h="61079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Layer Norm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Feature</a:t>
                      </a:r>
                      <a:r>
                        <a:rPr lang="ko-KR" altLang="en-US" sz="1600" dirty="0"/>
                        <a:t>의 분포 안정화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7773460"/>
                  </a:ext>
                </a:extLst>
              </a:tr>
              <a:tr h="61079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MHA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Token</a:t>
                      </a:r>
                      <a:r>
                        <a:rPr lang="ko-KR" altLang="en-US" sz="1600" dirty="0"/>
                        <a:t>간의 정보를 주고받으며</a:t>
                      </a:r>
                      <a:r>
                        <a:rPr lang="en-US" altLang="ko-KR" sz="1600" dirty="0"/>
                        <a:t>,</a:t>
                      </a:r>
                    </a:p>
                    <a:p>
                      <a:pPr latinLnBrk="1"/>
                      <a:r>
                        <a:rPr lang="ko-KR" altLang="en-US" sz="1600" dirty="0"/>
                        <a:t>전역전인 관계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문맥</a:t>
                      </a:r>
                      <a:r>
                        <a:rPr lang="en-US" altLang="ko-KR" sz="1600" dirty="0"/>
                        <a:t>) </a:t>
                      </a:r>
                      <a:r>
                        <a:rPr lang="ko-KR" altLang="en-US" sz="1600" dirty="0"/>
                        <a:t>학습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1139267"/>
                  </a:ext>
                </a:extLst>
              </a:tr>
              <a:tr h="61079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Residual </a:t>
                      </a:r>
                    </a:p>
                    <a:p>
                      <a:pPr latinLnBrk="1"/>
                      <a:r>
                        <a:rPr lang="en-US" altLang="ko-KR" sz="1600" dirty="0"/>
                        <a:t>Connection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입력과 출력 사이에 </a:t>
                      </a:r>
                      <a:r>
                        <a:rPr lang="en-US" altLang="ko-KR" sz="1600" dirty="0"/>
                        <a:t>skip connection </a:t>
                      </a:r>
                      <a:r>
                        <a:rPr lang="ko-KR" altLang="en-US" sz="1600" dirty="0"/>
                        <a:t>적용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7589577"/>
                  </a:ext>
                </a:extLst>
              </a:tr>
              <a:tr h="61079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MLP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token</a:t>
                      </a:r>
                      <a:r>
                        <a:rPr lang="ko-KR" altLang="en-US" sz="1600" dirty="0"/>
                        <a:t>별로 개별적인 비선형 변환을 적용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72669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0743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4"/>
    </mc:Choice>
    <mc:Fallback xmlns="">
      <p:transition spd="slow" advTm="194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F4EB3-F6CA-DDC4-4138-669EAF14E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E91318-F305-3212-4877-903B56CC0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ViT</a:t>
            </a:r>
            <a:r>
              <a:rPr lang="en-US" altLang="ko-KR" dirty="0"/>
              <a:t> </a:t>
            </a:r>
            <a:r>
              <a:rPr lang="ko-KR" altLang="en-US" dirty="0"/>
              <a:t>구조 </a:t>
            </a:r>
            <a:r>
              <a:rPr lang="en-US" altLang="ko-KR" dirty="0"/>
              <a:t>–</a:t>
            </a:r>
            <a:r>
              <a:rPr lang="ko-KR" altLang="en-US" dirty="0"/>
              <a:t> </a:t>
            </a:r>
            <a:r>
              <a:rPr lang="en-US" altLang="ko-KR" dirty="0"/>
              <a:t>Class</a:t>
            </a:r>
            <a:r>
              <a:rPr lang="ko-KR" altLang="en-US" dirty="0"/>
              <a:t> 분류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4E7EB3-7F67-95B1-0C3E-4698F7BB8FF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93312" y="1302104"/>
            <a:ext cx="8380801" cy="1736064"/>
          </a:xfrm>
        </p:spPr>
        <p:txBody>
          <a:bodyPr>
            <a:normAutofit/>
          </a:bodyPr>
          <a:lstStyle/>
          <a:p>
            <a:r>
              <a:rPr lang="en-US" altLang="ko-KR" sz="2000" kern="0" dirty="0"/>
              <a:t>Class </a:t>
            </a:r>
            <a:r>
              <a:rPr lang="ko-KR" altLang="en-US" sz="2000" kern="0" dirty="0"/>
              <a:t>분류</a:t>
            </a:r>
            <a:endParaRPr lang="en-US" altLang="ko-KR" sz="2000" kern="0" dirty="0"/>
          </a:p>
          <a:p>
            <a:pPr lvl="1"/>
            <a:r>
              <a:rPr lang="en-US" altLang="ko-KR" dirty="0"/>
              <a:t>L</a:t>
            </a:r>
            <a:r>
              <a:rPr lang="ko-KR" altLang="en-US" dirty="0"/>
              <a:t>번 반복한 </a:t>
            </a:r>
            <a:r>
              <a:rPr lang="en-US" altLang="ko-KR" dirty="0" err="1"/>
              <a:t>ViT</a:t>
            </a:r>
            <a:r>
              <a:rPr lang="en-US" altLang="ko-KR" dirty="0"/>
              <a:t> Encoder</a:t>
            </a:r>
            <a:r>
              <a:rPr lang="ko-KR" altLang="en-US" dirty="0"/>
              <a:t>의 마지막 출력에서</a:t>
            </a:r>
            <a:r>
              <a:rPr lang="en-US" altLang="ko-KR" dirty="0"/>
              <a:t>,</a:t>
            </a:r>
          </a:p>
          <a:p>
            <a:pPr lvl="1"/>
            <a:r>
              <a:rPr lang="en-US" altLang="ko-KR" kern="0" dirty="0"/>
              <a:t>Class Token</a:t>
            </a:r>
            <a:r>
              <a:rPr lang="ko-KR" altLang="en-US" kern="0" dirty="0"/>
              <a:t>을 분류 문제에 사용하여 최종 </a:t>
            </a:r>
            <a:r>
              <a:rPr lang="en-US" altLang="ko-KR" kern="0" dirty="0"/>
              <a:t>Class </a:t>
            </a:r>
            <a:r>
              <a:rPr lang="ko-KR" altLang="en-US" kern="0" dirty="0"/>
              <a:t>생성</a:t>
            </a:r>
            <a:endParaRPr lang="en-US" altLang="ko-KR" kern="0" dirty="0"/>
          </a:p>
        </p:txBody>
      </p:sp>
      <p:pic>
        <p:nvPicPr>
          <p:cNvPr id="5" name="Picture 2" descr="Vision Transformer (ViT)">
            <a:extLst>
              <a:ext uri="{FF2B5EF4-FFF2-40B4-BE49-F238E27FC236}">
                <a16:creationId xmlns:a16="http://schemas.microsoft.com/office/drawing/2014/main" id="{8BB94804-DCDC-3486-A739-A16C7FEFFC1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64" r="31036" b="49304"/>
          <a:stretch/>
        </p:blipFill>
        <p:spPr bwMode="auto">
          <a:xfrm>
            <a:off x="3904179" y="2473992"/>
            <a:ext cx="4973910" cy="1632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74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26"/>
    </mc:Choice>
    <mc:Fallback xmlns="">
      <p:transition spd="slow" advTm="526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2F680B-7FA6-4258-960F-08079AB65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</a:t>
            </a:r>
            <a:r>
              <a:rPr lang="en-US" altLang="ko-KR" dirty="0"/>
              <a:t>: Transformer </a:t>
            </a:r>
            <a:r>
              <a:rPr lang="ko-KR" altLang="en-US" dirty="0"/>
              <a:t>모델 구성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D388B81-3A4F-4D88-AB20-29E471BD9A5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93313" y="1302104"/>
            <a:ext cx="8208333" cy="601200"/>
          </a:xfrm>
        </p:spPr>
        <p:txBody>
          <a:bodyPr/>
          <a:lstStyle/>
          <a:p>
            <a:r>
              <a:rPr lang="ko-KR" altLang="en-US" dirty="0"/>
              <a:t>모델의 구조</a:t>
            </a:r>
            <a:endParaRPr lang="en-US" altLang="ko-KR" dirty="0"/>
          </a:p>
          <a:p>
            <a:pPr lvl="1"/>
            <a:r>
              <a:rPr lang="en-US" altLang="ko-KR" sz="1200" dirty="0"/>
              <a:t>ViT16 </a:t>
            </a:r>
            <a:r>
              <a:rPr lang="ko-KR" altLang="en-US" sz="1200" dirty="0"/>
              <a:t>모델을 </a:t>
            </a:r>
            <a:r>
              <a:rPr lang="en-US" altLang="ko-KR" sz="1200" dirty="0"/>
              <a:t>ImageNet-1000 </a:t>
            </a:r>
            <a:r>
              <a:rPr lang="ko-KR" altLang="en-US" sz="1200" dirty="0"/>
              <a:t>데이터셋에 맞게 가공</a:t>
            </a:r>
            <a:endParaRPr lang="en-US" altLang="ko-KR" sz="12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622EE99-7FD8-B1FF-FACC-5CCD7533E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4427" y="1302104"/>
            <a:ext cx="3716136" cy="508721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722165E-C701-BCAC-3369-C0FAC40D55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073" y="2010232"/>
            <a:ext cx="3723680" cy="367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935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3"/>
    </mc:Choice>
    <mc:Fallback xmlns="">
      <p:transition spd="slow" advTm="163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FD6F8-4494-115B-BE97-20FFEBF7F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C1982A-11A4-B724-F8FC-334283517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</a:t>
            </a:r>
            <a:r>
              <a:rPr lang="en-US" altLang="ko-KR" dirty="0"/>
              <a:t>: Transformer </a:t>
            </a:r>
            <a:r>
              <a:rPr lang="ko-KR" altLang="en-US" dirty="0"/>
              <a:t>모델 구성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77B6D6-CCBC-7E1C-646A-09B736B7567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93313" y="1302104"/>
            <a:ext cx="8208333" cy="601200"/>
          </a:xfrm>
        </p:spPr>
        <p:txBody>
          <a:bodyPr/>
          <a:lstStyle/>
          <a:p>
            <a:r>
              <a:rPr lang="en-US" altLang="ko-KR" dirty="0"/>
              <a:t>Encoder</a:t>
            </a:r>
            <a:r>
              <a:rPr lang="ko-KR" altLang="en-US" dirty="0"/>
              <a:t> 구조</a:t>
            </a:r>
            <a:endParaRPr lang="en-US" altLang="ko-KR" dirty="0"/>
          </a:p>
          <a:p>
            <a:pPr lvl="1"/>
            <a:r>
              <a:rPr lang="en-US" altLang="ko-KR" sz="1200" dirty="0"/>
              <a:t>ViT16 </a:t>
            </a:r>
            <a:r>
              <a:rPr lang="ko-KR" altLang="en-US" sz="1200" dirty="0"/>
              <a:t>모델을 </a:t>
            </a:r>
            <a:r>
              <a:rPr lang="en-US" altLang="ko-KR" sz="1200" dirty="0"/>
              <a:t>ImageNet-1000 </a:t>
            </a:r>
            <a:r>
              <a:rPr lang="ko-KR" altLang="en-US" sz="1200" dirty="0"/>
              <a:t>데이터셋에 맞게 가공</a:t>
            </a:r>
            <a:endParaRPr lang="en-US" altLang="ko-KR" sz="12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9F69A1D-98D9-0A0E-F131-9EF417BD53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592" y="1984149"/>
            <a:ext cx="5630891" cy="4176019"/>
          </a:xfrm>
          <a:prstGeom prst="rect">
            <a:avLst/>
          </a:prstGeom>
        </p:spPr>
      </p:pic>
      <p:pic>
        <p:nvPicPr>
          <p:cNvPr id="7" name="Picture 2" descr="Vision Transformer (ViT)">
            <a:extLst>
              <a:ext uri="{FF2B5EF4-FFF2-40B4-BE49-F238E27FC236}">
                <a16:creationId xmlns:a16="http://schemas.microsoft.com/office/drawing/2014/main" id="{8393D40A-1796-2AF3-7C3A-97DCDEF715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915" t="-1" b="-2702"/>
          <a:stretch/>
        </p:blipFill>
        <p:spPr bwMode="auto">
          <a:xfrm>
            <a:off x="6715872" y="2304004"/>
            <a:ext cx="1642064" cy="3536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4224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0"/>
    </mc:Choice>
    <mc:Fallback xmlns="">
      <p:transition spd="slow" advTm="16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4D8E1B-3680-48BF-B6C0-8F905F9F2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</a:t>
            </a:r>
            <a:r>
              <a:rPr lang="en-US" altLang="ko-KR" dirty="0"/>
              <a:t>: Transformer </a:t>
            </a:r>
            <a:r>
              <a:rPr lang="ko-KR" altLang="en-US" dirty="0"/>
              <a:t>모델 구성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AC223F-564D-4AFE-A0A0-0B2892F018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7646" y="1302104"/>
            <a:ext cx="8064000" cy="1008477"/>
          </a:xfrm>
        </p:spPr>
        <p:txBody>
          <a:bodyPr/>
          <a:lstStyle/>
          <a:p>
            <a:r>
              <a:rPr lang="en-US" altLang="ko-KR" dirty="0"/>
              <a:t>Transformer Input, Weights</a:t>
            </a:r>
          </a:p>
          <a:p>
            <a:pPr lvl="1"/>
            <a:r>
              <a:rPr lang="en-US" altLang="ko-KR" dirty="0"/>
              <a:t>Input Image </a:t>
            </a:r>
            <a:r>
              <a:rPr lang="ko-KR" altLang="en-US" dirty="0"/>
              <a:t>연결</a:t>
            </a:r>
            <a:endParaRPr lang="en-US" altLang="ko-KR" dirty="0"/>
          </a:p>
          <a:p>
            <a:pPr lvl="1"/>
            <a:r>
              <a:rPr lang="en-US" altLang="ko-KR" dirty="0"/>
              <a:t>Weights, Bias </a:t>
            </a:r>
            <a:r>
              <a:rPr lang="ko-KR" altLang="en-US" dirty="0"/>
              <a:t>연결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CCC0222-97B6-8DDB-C4EF-F465369E87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6539" y="2630833"/>
            <a:ext cx="6390922" cy="1803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588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19"/>
    </mc:Choice>
    <mc:Fallback xmlns="">
      <p:transition spd="slow" advTm="2319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47414-CA29-A32F-6B95-D158E0AC0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D6D6F3-A61B-FCC7-CF22-BEA8BEA26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Multi-head</a:t>
            </a:r>
            <a:r>
              <a:rPr lang="ko-KR" altLang="en-US" dirty="0"/>
              <a:t> </a:t>
            </a:r>
            <a:r>
              <a:rPr lang="en-US" altLang="ko-KR" dirty="0"/>
              <a:t>Attention</a:t>
            </a:r>
            <a:endParaRPr lang="ko-KR" altLang="en-US" dirty="0"/>
          </a:p>
        </p:txBody>
      </p:sp>
      <p:pic>
        <p:nvPicPr>
          <p:cNvPr id="2056" name="Picture 8">
            <a:extLst>
              <a:ext uri="{FF2B5EF4-FFF2-40B4-BE49-F238E27FC236}">
                <a16:creationId xmlns:a16="http://schemas.microsoft.com/office/drawing/2014/main" id="{1DDB884C-3D9A-1598-3F0D-0B9D612D9F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492" y="2192865"/>
            <a:ext cx="3071461" cy="3755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33A116D-ED8F-E9BF-59AE-BBD5DE6BA59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7646" y="1302104"/>
            <a:ext cx="8064000" cy="694761"/>
          </a:xfrm>
        </p:spPr>
        <p:txBody>
          <a:bodyPr>
            <a:normAutofit/>
          </a:bodyPr>
          <a:lstStyle/>
          <a:p>
            <a:r>
              <a:rPr lang="en-US" altLang="ko-KR" dirty="0"/>
              <a:t>MHA Module</a:t>
            </a:r>
          </a:p>
          <a:p>
            <a:pPr lvl="1"/>
            <a:r>
              <a:rPr lang="en-US" altLang="ko-KR" dirty="0"/>
              <a:t>Q, K, V </a:t>
            </a:r>
            <a:r>
              <a:rPr lang="ko-KR" altLang="en-US" dirty="0"/>
              <a:t>생성 </a:t>
            </a:r>
            <a:r>
              <a:rPr lang="ko-KR" altLang="en-US" b="1" i="0" dirty="0">
                <a:solidFill>
                  <a:srgbClr val="767676"/>
                </a:solidFill>
                <a:effectLst/>
                <a:latin typeface="Arial" panose="020B0604020202020204" pitchFamily="34" charset="0"/>
              </a:rPr>
              <a:t>→</a:t>
            </a:r>
            <a:r>
              <a:rPr lang="ko-KR" altLang="en-US" dirty="0"/>
              <a:t> </a:t>
            </a:r>
            <a:r>
              <a:rPr lang="en-US" altLang="ko-KR" dirty="0"/>
              <a:t>Header</a:t>
            </a:r>
            <a:r>
              <a:rPr lang="ko-KR" altLang="en-US" dirty="0"/>
              <a:t>별로 </a:t>
            </a:r>
            <a:r>
              <a:rPr lang="en-US" altLang="ko-KR" dirty="0"/>
              <a:t>Scaled Dot-Product Attn </a:t>
            </a:r>
            <a:r>
              <a:rPr lang="ko-KR" altLang="en-US" b="1" i="0" dirty="0">
                <a:solidFill>
                  <a:srgbClr val="767676"/>
                </a:solidFill>
                <a:effectLst/>
                <a:latin typeface="Arial" panose="020B0604020202020204" pitchFamily="34" charset="0"/>
              </a:rPr>
              <a:t>→ </a:t>
            </a:r>
            <a:r>
              <a:rPr lang="en-US" altLang="ko-KR" dirty="0"/>
              <a:t>Final Linear</a:t>
            </a:r>
            <a:endParaRPr lang="ko-KR" altLang="en-US" dirty="0"/>
          </a:p>
        </p:txBody>
      </p:sp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488CD9B5-C64B-340A-78C9-CF8FB3FFDB2F}"/>
              </a:ext>
            </a:extLst>
          </p:cNvPr>
          <p:cNvSpPr txBox="1">
            <a:spLocks/>
          </p:cNvSpPr>
          <p:nvPr/>
        </p:nvSpPr>
        <p:spPr>
          <a:xfrm>
            <a:off x="3816703" y="4608213"/>
            <a:ext cx="5179813" cy="357078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KoPubWorld돋움체 Medium" panose="00000600000000000000" pitchFamily="2" charset="-127"/>
              <a:buChar char="•"/>
              <a:defRPr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KoPubWorld돋움체 Medium" panose="00000600000000000000" pitchFamily="2" charset="-127"/>
              <a:buChar char="◦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0150" indent="-2857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KoPubWorld돋움체 Medium" panose="00000600000000000000" pitchFamily="2" charset="-127"/>
              <a:buChar char="+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KoPubWorld돋움체 Medium" panose="00000600000000000000" pitchFamily="2" charset="-127"/>
              <a:buChar char="-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00250" indent="-1714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KoPubWorld돋움체 Medium" panose="00000600000000000000" pitchFamily="2" charset="-127"/>
              <a:buChar char="-"/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dirty="0"/>
              <a:t>Input</a:t>
            </a:r>
            <a:r>
              <a:rPr lang="ko-KR" altLang="en-US" dirty="0"/>
              <a:t> </a:t>
            </a:r>
            <a:r>
              <a:rPr lang="en-US" altLang="ko-KR" dirty="0"/>
              <a:t>*</a:t>
            </a:r>
            <a:r>
              <a:rPr lang="ko-KR" altLang="en-US" dirty="0"/>
              <a:t> </a:t>
            </a:r>
            <a:r>
              <a:rPr lang="en-US" altLang="ko-KR" dirty="0"/>
              <a:t>Weight(Q,</a:t>
            </a:r>
            <a:r>
              <a:rPr lang="ko-KR" altLang="en-US" dirty="0"/>
              <a:t> </a:t>
            </a:r>
            <a:r>
              <a:rPr lang="en-US" altLang="ko-KR" dirty="0"/>
              <a:t>K, V) = Query, Key, Value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3">
                <a:extLst>
                  <a:ext uri="{FF2B5EF4-FFF2-40B4-BE49-F238E27FC236}">
                    <a16:creationId xmlns:a16="http://schemas.microsoft.com/office/drawing/2014/main" id="{0DF59E39-3E1F-CAD8-35C2-40100CBE633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16703" y="3892151"/>
                <a:ext cx="5179813" cy="357078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>
                <a:normAutofit fontScale="92500" lnSpcReduction="10000"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KoPubWorld돋움체 Medium" panose="00000600000000000000" pitchFamily="2" charset="-127"/>
                  <a:buChar char="•"/>
                  <a:defRPr sz="1800" b="1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World돋움체 Medium" panose="00000600000000000000" pitchFamily="2" charset="-127"/>
                  <a:buChar char="◦"/>
                  <a:defRPr sz="16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1200150" indent="-28575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World돋움체 Medium" panose="00000600000000000000" pitchFamily="2" charset="-127"/>
                  <a:buChar char="+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World돋움체 Medium" panose="00000600000000000000" pitchFamily="2" charset="-127"/>
                  <a:buChar char="-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2000250" indent="-17145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World돋움체 Medium" panose="00000600000000000000" pitchFamily="2" charset="-127"/>
                  <a:buChar char="-"/>
                  <a:defRPr sz="1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altLang="ko-KR" dirty="0"/>
                  <a:t>Attn_Value = </a:t>
                </a:r>
                <a:r>
                  <a:rPr lang="en-US" altLang="ko-KR" dirty="0" err="1"/>
                  <a:t>Softmax</a:t>
                </a:r>
                <a:r>
                  <a:rPr lang="en-US" altLang="ko-KR" dirty="0"/>
                  <a:t>(Q*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𝑲</m:t>
                        </m:r>
                      </m:e>
                      <m:sup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</m:oMath>
                </a14:m>
                <a:r>
                  <a:rPr lang="en-US" altLang="ko-KR" dirty="0"/>
                  <a:t>/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내용 개체 틀 3">
                <a:extLst>
                  <a:ext uri="{FF2B5EF4-FFF2-40B4-BE49-F238E27FC236}">
                    <a16:creationId xmlns:a16="http://schemas.microsoft.com/office/drawing/2014/main" id="{0DF59E39-3E1F-CAD8-35C2-40100CBE63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6703" y="3892151"/>
                <a:ext cx="5179813" cy="357078"/>
              </a:xfrm>
              <a:prstGeom prst="rect">
                <a:avLst/>
              </a:prstGeom>
              <a:blipFill>
                <a:blip r:embed="rId4"/>
                <a:stretch>
                  <a:fillRect l="-706" t="-11864" b="-1355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내용 개체 틀 3">
            <a:extLst>
              <a:ext uri="{FF2B5EF4-FFF2-40B4-BE49-F238E27FC236}">
                <a16:creationId xmlns:a16="http://schemas.microsoft.com/office/drawing/2014/main" id="{034199A9-B484-53D1-7ED2-2528D9F66133}"/>
              </a:ext>
            </a:extLst>
          </p:cNvPr>
          <p:cNvSpPr txBox="1">
            <a:spLocks/>
          </p:cNvSpPr>
          <p:nvPr/>
        </p:nvSpPr>
        <p:spPr>
          <a:xfrm>
            <a:off x="3816703" y="2787310"/>
            <a:ext cx="5179813" cy="357078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KoPubWorld돋움체 Medium" panose="00000600000000000000" pitchFamily="2" charset="-127"/>
              <a:buChar char="•"/>
              <a:defRPr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KoPubWorld돋움체 Medium" panose="00000600000000000000" pitchFamily="2" charset="-127"/>
              <a:buChar char="◦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0150" indent="-2857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KoPubWorld돋움체 Medium" panose="00000600000000000000" pitchFamily="2" charset="-127"/>
              <a:buChar char="+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KoPubWorld돋움체 Medium" panose="00000600000000000000" pitchFamily="2" charset="-127"/>
              <a:buChar char="-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00250" indent="-1714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KoPubWorld돋움체 Medium" panose="00000600000000000000" pitchFamily="2" charset="-127"/>
              <a:buChar char="-"/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dirty="0" err="1"/>
              <a:t>Attn_Output</a:t>
            </a:r>
            <a:r>
              <a:rPr lang="en-US" altLang="ko-KR" dirty="0"/>
              <a:t> = </a:t>
            </a:r>
            <a:r>
              <a:rPr lang="en-US" altLang="ko-KR" dirty="0" err="1"/>
              <a:t>Attn_Value</a:t>
            </a:r>
            <a:r>
              <a:rPr lang="en-US" altLang="ko-KR" dirty="0"/>
              <a:t> * </a:t>
            </a:r>
            <a:r>
              <a:rPr lang="en-US" altLang="ko-KR" dirty="0" err="1"/>
              <a:t>Final_Weight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176776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7100DF-D045-4C6D-B980-96179428F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Multi-head</a:t>
            </a:r>
            <a:r>
              <a:rPr lang="ko-KR" altLang="en-US" dirty="0"/>
              <a:t> </a:t>
            </a:r>
            <a:r>
              <a:rPr lang="en-US" altLang="ko-KR" dirty="0"/>
              <a:t>Attention</a:t>
            </a:r>
            <a:endParaRPr lang="ko-KR" altLang="en-US" dirty="0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5B0347B8-91DE-FAD9-A2B6-6EBF3697599B}"/>
              </a:ext>
            </a:extLst>
          </p:cNvPr>
          <p:cNvGrpSpPr/>
          <p:nvPr/>
        </p:nvGrpSpPr>
        <p:grpSpPr>
          <a:xfrm>
            <a:off x="4904066" y="2560561"/>
            <a:ext cx="2663082" cy="2798690"/>
            <a:chOff x="6156431" y="3293806"/>
            <a:chExt cx="2663082" cy="2798690"/>
          </a:xfrm>
        </p:grpSpPr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72489F93-FBAC-1980-B608-FA4489DE2D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986" t="8545" r="-5846" b="-1206"/>
            <a:stretch/>
          </p:blipFill>
          <p:spPr>
            <a:xfrm>
              <a:off x="6230583" y="3293806"/>
              <a:ext cx="2588930" cy="2798690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1AF3968-2527-4EF1-97B9-347F27A8DD21}"/>
                </a:ext>
              </a:extLst>
            </p:cNvPr>
            <p:cNvSpPr txBox="1"/>
            <p:nvPr/>
          </p:nvSpPr>
          <p:spPr>
            <a:xfrm>
              <a:off x="6156431" y="4453235"/>
              <a:ext cx="664041" cy="3435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dirty="0">
                  <a:latin typeface="KoPubWorld돋움체 Medium" panose="00000600000000000000" pitchFamily="2" charset="-127"/>
                  <a:ea typeface="KoPubWorld돋움체 Medium" panose="00000600000000000000" pitchFamily="2" charset="-127"/>
                </a:rPr>
                <a:t>Input</a:t>
              </a:r>
              <a:endPara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45D66F9-FCAE-476D-A208-A9AA97B0C67B}"/>
                </a:ext>
              </a:extLst>
            </p:cNvPr>
            <p:cNvSpPr txBox="1"/>
            <p:nvPr/>
          </p:nvSpPr>
          <p:spPr>
            <a:xfrm>
              <a:off x="8254545" y="3486248"/>
              <a:ext cx="335132" cy="3435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dirty="0">
                  <a:latin typeface="KoPubWorld돋움체 Medium" panose="00000600000000000000" pitchFamily="2" charset="-127"/>
                  <a:ea typeface="KoPubWorld돋움체 Medium" panose="00000600000000000000" pitchFamily="2" charset="-127"/>
                </a:rPr>
                <a:t>Q</a:t>
              </a:r>
              <a:endPara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0DB0616-6CC7-431A-95DC-5F0379E5D1DA}"/>
                </a:ext>
              </a:extLst>
            </p:cNvPr>
            <p:cNvSpPr txBox="1"/>
            <p:nvPr/>
          </p:nvSpPr>
          <p:spPr>
            <a:xfrm>
              <a:off x="8273805" y="4465492"/>
              <a:ext cx="296611" cy="3435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dirty="0">
                  <a:latin typeface="KoPubWorld돋움체 Medium" panose="00000600000000000000" pitchFamily="2" charset="-127"/>
                  <a:ea typeface="KoPubWorld돋움체 Medium" panose="00000600000000000000" pitchFamily="2" charset="-127"/>
                </a:rPr>
                <a:t>K</a:t>
              </a:r>
              <a:endPara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4B9BB08-CDBC-BCC9-D3AC-3A26A413E8FE}"/>
                </a:ext>
              </a:extLst>
            </p:cNvPr>
            <p:cNvSpPr txBox="1"/>
            <p:nvPr/>
          </p:nvSpPr>
          <p:spPr>
            <a:xfrm>
              <a:off x="8269360" y="5407132"/>
              <a:ext cx="305500" cy="3435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dirty="0">
                  <a:latin typeface="KoPubWorld돋움체 Medium" panose="00000600000000000000" pitchFamily="2" charset="-127"/>
                  <a:ea typeface="KoPubWorld돋움체 Medium" panose="00000600000000000000" pitchFamily="2" charset="-127"/>
                </a:rPr>
                <a:t>V</a:t>
              </a:r>
              <a:endPara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</a:endParaRPr>
            </a:p>
          </p:txBody>
        </p:sp>
      </p:grpSp>
      <p:pic>
        <p:nvPicPr>
          <p:cNvPr id="32" name="Picture 8">
            <a:extLst>
              <a:ext uri="{FF2B5EF4-FFF2-40B4-BE49-F238E27FC236}">
                <a16:creationId xmlns:a16="http://schemas.microsoft.com/office/drawing/2014/main" id="{FAF4686E-E250-A44D-CB3B-ADAAA80591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63" t="3090" r="4044" b="10454"/>
          <a:stretch/>
        </p:blipFill>
        <p:spPr bwMode="auto">
          <a:xfrm>
            <a:off x="569975" y="2045240"/>
            <a:ext cx="3167825" cy="3767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직사각형 32">
            <a:extLst>
              <a:ext uri="{FF2B5EF4-FFF2-40B4-BE49-F238E27FC236}">
                <a16:creationId xmlns:a16="http://schemas.microsoft.com/office/drawing/2014/main" id="{C9425871-9E4E-9911-197F-9389DA52330F}"/>
              </a:ext>
            </a:extLst>
          </p:cNvPr>
          <p:cNvSpPr/>
          <p:nvPr/>
        </p:nvSpPr>
        <p:spPr>
          <a:xfrm>
            <a:off x="461797" y="4609048"/>
            <a:ext cx="3077497" cy="601200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내용 개체 틀 2">
            <a:extLst>
              <a:ext uri="{FF2B5EF4-FFF2-40B4-BE49-F238E27FC236}">
                <a16:creationId xmlns:a16="http://schemas.microsoft.com/office/drawing/2014/main" id="{C44E2979-4EC3-F75D-6C0D-E6B7D9D0E36F}"/>
              </a:ext>
            </a:extLst>
          </p:cNvPr>
          <p:cNvSpPr txBox="1">
            <a:spLocks/>
          </p:cNvSpPr>
          <p:nvPr/>
        </p:nvSpPr>
        <p:spPr>
          <a:xfrm>
            <a:off x="461797" y="1414059"/>
            <a:ext cx="8064000" cy="564976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KoPubWorld돋움체 Medium" panose="00000600000000000000" pitchFamily="2" charset="-127"/>
              <a:buChar char="•"/>
              <a:defRPr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KoPubWorld돋움체 Medium" panose="00000600000000000000" pitchFamily="2" charset="-127"/>
              <a:buChar char="◦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0150" indent="-2857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KoPubWorld돋움체 Medium" panose="00000600000000000000" pitchFamily="2" charset="-127"/>
              <a:buChar char="+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KoPubWorld돋움체 Medium" panose="00000600000000000000" pitchFamily="2" charset="-127"/>
              <a:buChar char="-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00250" indent="-1714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KoPubWorld돋움체 Medium" panose="00000600000000000000" pitchFamily="2" charset="-127"/>
              <a:buChar char="-"/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Input</a:t>
            </a:r>
            <a:r>
              <a:rPr lang="ko-KR" altLang="en-US"/>
              <a:t>을 </a:t>
            </a:r>
            <a:r>
              <a:rPr lang="en-US" altLang="ko-KR"/>
              <a:t>Q, K, V</a:t>
            </a:r>
            <a:r>
              <a:rPr lang="ko-KR" altLang="en-US"/>
              <a:t>의 </a:t>
            </a:r>
            <a:r>
              <a:rPr lang="en-US" altLang="ko-KR"/>
              <a:t>Weight</a:t>
            </a:r>
            <a:r>
              <a:rPr lang="ko-KR" altLang="en-US"/>
              <a:t>와 </a:t>
            </a:r>
            <a:r>
              <a:rPr lang="en-US" altLang="ko-KR"/>
              <a:t>Linear</a:t>
            </a:r>
            <a:r>
              <a:rPr lang="ko-KR" altLang="en-US"/>
              <a:t>를 통해 </a:t>
            </a:r>
            <a:r>
              <a:rPr lang="en-US" altLang="ko-KR"/>
              <a:t>Query, Key, Value </a:t>
            </a:r>
            <a:r>
              <a:rPr lang="ko-KR" altLang="en-US"/>
              <a:t>행렬 생성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775437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70127-36F3-5EC5-3E64-6E0866988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3F57F4-F36D-FB41-39C7-8C8661DB3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Multi-head</a:t>
            </a:r>
            <a:r>
              <a:rPr lang="ko-KR" altLang="en-US" dirty="0"/>
              <a:t> </a:t>
            </a:r>
            <a:r>
              <a:rPr lang="en-US" altLang="ko-KR" dirty="0"/>
              <a:t>Attention</a:t>
            </a:r>
            <a:endParaRPr lang="ko-KR" altLang="en-US" dirty="0"/>
          </a:p>
        </p:txBody>
      </p:sp>
      <p:pic>
        <p:nvPicPr>
          <p:cNvPr id="32" name="Picture 8">
            <a:extLst>
              <a:ext uri="{FF2B5EF4-FFF2-40B4-BE49-F238E27FC236}">
                <a16:creationId xmlns:a16="http://schemas.microsoft.com/office/drawing/2014/main" id="{68E06789-FB00-A673-851D-E67891C722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63" t="3090" r="4044" b="10454"/>
          <a:stretch/>
        </p:blipFill>
        <p:spPr bwMode="auto">
          <a:xfrm>
            <a:off x="569975" y="2045240"/>
            <a:ext cx="3167825" cy="3767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직사각형 32">
            <a:extLst>
              <a:ext uri="{FF2B5EF4-FFF2-40B4-BE49-F238E27FC236}">
                <a16:creationId xmlns:a16="http://schemas.microsoft.com/office/drawing/2014/main" id="{8A729945-A805-CF9E-2887-876E82949AD4}"/>
              </a:ext>
            </a:extLst>
          </p:cNvPr>
          <p:cNvSpPr/>
          <p:nvPr/>
        </p:nvSpPr>
        <p:spPr>
          <a:xfrm>
            <a:off x="461798" y="3719990"/>
            <a:ext cx="3327624" cy="783184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내용 개체 틀 2">
            <a:extLst>
              <a:ext uri="{FF2B5EF4-FFF2-40B4-BE49-F238E27FC236}">
                <a16:creationId xmlns:a16="http://schemas.microsoft.com/office/drawing/2014/main" id="{16D3055B-94A7-3C0A-33F2-506475F7F57A}"/>
              </a:ext>
            </a:extLst>
          </p:cNvPr>
          <p:cNvSpPr txBox="1">
            <a:spLocks/>
          </p:cNvSpPr>
          <p:nvPr/>
        </p:nvSpPr>
        <p:spPr>
          <a:xfrm>
            <a:off x="461797" y="1356717"/>
            <a:ext cx="8064000" cy="564976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KoPubWorld돋움체 Medium" panose="00000600000000000000" pitchFamily="2" charset="-127"/>
              <a:buChar char="•"/>
              <a:defRPr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KoPubWorld돋움체 Medium" panose="00000600000000000000" pitchFamily="2" charset="-127"/>
              <a:buChar char="◦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0150" indent="-2857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KoPubWorld돋움체 Medium" panose="00000600000000000000" pitchFamily="2" charset="-127"/>
              <a:buChar char="+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KoPubWorld돋움체 Medium" panose="00000600000000000000" pitchFamily="2" charset="-127"/>
              <a:buChar char="-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00250" indent="-1714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KoPubWorld돋움체 Medium" panose="00000600000000000000" pitchFamily="2" charset="-127"/>
              <a:buChar char="-"/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Scaled Dot-Product Attention</a:t>
            </a:r>
            <a:r>
              <a:rPr lang="ko-KR" altLang="en-US" dirty="0"/>
              <a:t>을 병렬로 </a:t>
            </a:r>
            <a:r>
              <a:rPr lang="en-US" altLang="ko-KR" dirty="0"/>
              <a:t>h</a:t>
            </a:r>
            <a:r>
              <a:rPr lang="ko-KR" altLang="en-US" dirty="0"/>
              <a:t>번 실행</a:t>
            </a:r>
            <a:endParaRPr lang="en-US" altLang="ko-KR" dirty="0"/>
          </a:p>
          <a:p>
            <a:pPr lvl="1"/>
            <a:r>
              <a:rPr lang="en-US" altLang="ko-KR" dirty="0"/>
              <a:t>Scaled Dot-Product Attention</a:t>
            </a:r>
            <a:r>
              <a:rPr lang="ko-KR" altLang="en-US" dirty="0"/>
              <a:t>이란</a:t>
            </a:r>
            <a:r>
              <a:rPr lang="en-US" altLang="ko-KR" dirty="0"/>
              <a:t>?</a:t>
            </a:r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43A8C5BA-306D-4985-3FFC-0FC492F457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269" b="12593"/>
          <a:stretch/>
        </p:blipFill>
        <p:spPr bwMode="auto">
          <a:xfrm>
            <a:off x="4583713" y="2045240"/>
            <a:ext cx="3363734" cy="3594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12324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9E289-0426-8274-E66C-CD8C20A46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078DC9-6510-A6AA-5A5D-1426629AE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Multi-head</a:t>
            </a:r>
            <a:r>
              <a:rPr lang="ko-KR" altLang="en-US" dirty="0"/>
              <a:t> </a:t>
            </a:r>
            <a:r>
              <a:rPr lang="en-US" altLang="ko-KR" dirty="0"/>
              <a:t>Attention</a:t>
            </a:r>
            <a:endParaRPr lang="ko-KR" altLang="en-US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13372E86-6595-CF53-29AD-85E85E8892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5874" y="2019745"/>
            <a:ext cx="3786021" cy="694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0FAE425F-79D6-9C51-39C3-93546FE62C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010" t="30270" b="30602"/>
          <a:stretch/>
        </p:blipFill>
        <p:spPr bwMode="auto">
          <a:xfrm>
            <a:off x="5198303" y="3081142"/>
            <a:ext cx="2435345" cy="1629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A979CBD-DA43-715E-EE63-6E9CBE4DAF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0494" y="3081142"/>
            <a:ext cx="3851401" cy="1629024"/>
          </a:xfrm>
          <a:prstGeom prst="rect">
            <a:avLst/>
          </a:prstGeom>
        </p:spPr>
      </p:pic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A59C37F1-83E5-D141-FDD5-39356DFCF0AC}"/>
              </a:ext>
            </a:extLst>
          </p:cNvPr>
          <p:cNvSpPr txBox="1">
            <a:spLocks/>
          </p:cNvSpPr>
          <p:nvPr/>
        </p:nvSpPr>
        <p:spPr>
          <a:xfrm>
            <a:off x="461797" y="1356717"/>
            <a:ext cx="8064000" cy="564976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KoPubWorld돋움체 Medium" panose="00000600000000000000" pitchFamily="2" charset="-127"/>
              <a:buChar char="•"/>
              <a:defRPr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KoPubWorld돋움체 Medium" panose="00000600000000000000" pitchFamily="2" charset="-127"/>
              <a:buChar char="◦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0150" indent="-2857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KoPubWorld돋움체 Medium" panose="00000600000000000000" pitchFamily="2" charset="-127"/>
              <a:buChar char="+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KoPubWorld돋움체 Medium" panose="00000600000000000000" pitchFamily="2" charset="-127"/>
              <a:buChar char="-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00250" indent="-1714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KoPubWorld돋움체 Medium" panose="00000600000000000000" pitchFamily="2" charset="-127"/>
              <a:buChar char="-"/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Scaled Dot-Product Attention</a:t>
            </a:r>
            <a:r>
              <a:rPr lang="ko-KR" altLang="en-US" dirty="0"/>
              <a:t>을 병렬로 </a:t>
            </a:r>
            <a:r>
              <a:rPr lang="en-US" altLang="ko-KR" dirty="0"/>
              <a:t>h</a:t>
            </a:r>
            <a:r>
              <a:rPr lang="ko-KR" altLang="en-US" dirty="0"/>
              <a:t>번 실행</a:t>
            </a:r>
            <a:endParaRPr lang="en-US" altLang="ko-KR" dirty="0"/>
          </a:p>
          <a:p>
            <a:pPr lvl="1"/>
            <a:r>
              <a:rPr lang="en-US" altLang="ko-KR" dirty="0"/>
              <a:t>Scaled Dot-Product Attention</a:t>
            </a:r>
            <a:r>
              <a:rPr lang="ko-KR" altLang="en-US" dirty="0"/>
              <a:t>이란</a:t>
            </a:r>
            <a:r>
              <a:rPr lang="en-US" altLang="ko-KR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260333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ED926E-D20B-46CD-9FA7-2AE9F6996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Multi-head</a:t>
            </a:r>
            <a:r>
              <a:rPr lang="ko-KR" altLang="en-US" dirty="0"/>
              <a:t> </a:t>
            </a:r>
            <a:r>
              <a:rPr lang="en-US" altLang="ko-KR" dirty="0"/>
              <a:t>Attention: </a:t>
            </a:r>
            <a:r>
              <a:rPr lang="ko-KR" altLang="en-US" dirty="0"/>
              <a:t>소스코드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4EF05A-2D3F-4560-B375-A6C7229F2B1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93313" y="1173888"/>
            <a:ext cx="8064000" cy="478355"/>
          </a:xfrm>
        </p:spPr>
        <p:txBody>
          <a:bodyPr/>
          <a:lstStyle/>
          <a:p>
            <a:r>
              <a:rPr lang="en-US" altLang="ko-KR" dirty="0"/>
              <a:t>Multi-head</a:t>
            </a:r>
            <a:r>
              <a:rPr lang="ko-KR" altLang="en-US" dirty="0"/>
              <a:t> </a:t>
            </a:r>
            <a:r>
              <a:rPr lang="en-US" altLang="ko-KR" dirty="0"/>
              <a:t>Attention</a:t>
            </a:r>
            <a:endParaRPr lang="en-US" altLang="ko-KR" sz="1400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113CA6A-B68B-485F-B048-95F0B6FA538B}"/>
              </a:ext>
            </a:extLst>
          </p:cNvPr>
          <p:cNvSpPr/>
          <p:nvPr/>
        </p:nvSpPr>
        <p:spPr>
          <a:xfrm>
            <a:off x="563985" y="1543859"/>
            <a:ext cx="8813820" cy="584775"/>
          </a:xfrm>
          <a:prstGeom prst="rect">
            <a:avLst/>
          </a:prstGeom>
          <a:ln w="28575">
            <a:noFill/>
          </a:ln>
        </p:spPr>
        <p:txBody>
          <a:bodyPr wrap="square">
            <a:spAutoFit/>
          </a:bodyPr>
          <a:lstStyle/>
          <a:p>
            <a:pPr defTabSz="914400"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0" dirty="0" err="1">
                <a:solidFill>
                  <a:prstClr val="black"/>
                </a:solidFill>
                <a:latin typeface="+mn-ea"/>
              </a:rPr>
              <a:t>multihead_attn</a:t>
            </a:r>
            <a:r>
              <a:rPr kumimoji="1" lang="en-US" altLang="ko-KR" sz="1600" dirty="0">
                <a:solidFill>
                  <a:prstClr val="black"/>
                </a:solidFill>
                <a:latin typeface="+mn-ea"/>
              </a:rPr>
              <a:t> (</a:t>
            </a:r>
            <a:r>
              <a:rPr kumimoji="1" lang="en-US" altLang="ko-KR" sz="1600" dirty="0">
                <a:solidFill>
                  <a:srgbClr val="C00000"/>
                </a:solidFill>
                <a:latin typeface="+mn-ea"/>
              </a:rPr>
              <a:t>float* input</a:t>
            </a:r>
            <a:r>
              <a:rPr kumimoji="1" lang="en-US" altLang="ko-KR" sz="1600" dirty="0">
                <a:solidFill>
                  <a:prstClr val="black"/>
                </a:solidFill>
                <a:latin typeface="+mn-ea"/>
              </a:rPr>
              <a:t>, </a:t>
            </a:r>
            <a:r>
              <a:rPr kumimoji="1" lang="en-US" altLang="ko-KR" sz="1600" dirty="0">
                <a:solidFill>
                  <a:schemeClr val="accent3"/>
                </a:solidFill>
                <a:latin typeface="+mn-ea"/>
              </a:rPr>
              <a:t>float* output</a:t>
            </a:r>
            <a:r>
              <a:rPr kumimoji="1" lang="en-US" altLang="ko-KR" sz="1600" dirty="0">
                <a:solidFill>
                  <a:prstClr val="black"/>
                </a:solidFill>
                <a:latin typeface="+mn-ea"/>
              </a:rPr>
              <a:t>, </a:t>
            </a:r>
          </a:p>
          <a:p>
            <a:pPr defTabSz="914400"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0" dirty="0">
                <a:solidFill>
                  <a:prstClr val="black"/>
                </a:solidFill>
                <a:latin typeface="+mn-ea"/>
              </a:rPr>
              <a:t>	</a:t>
            </a:r>
            <a:r>
              <a:rPr kumimoji="1" lang="en-US" altLang="ko-KR" sz="1600" dirty="0">
                <a:solidFill>
                  <a:srgbClr val="00B050"/>
                </a:solidFill>
                <a:latin typeface="+mn-ea"/>
              </a:rPr>
              <a:t>float* </a:t>
            </a:r>
            <a:r>
              <a:rPr kumimoji="1" lang="en-US" altLang="ko-KR" sz="1600" dirty="0" err="1">
                <a:solidFill>
                  <a:srgbClr val="00B050"/>
                </a:solidFill>
                <a:latin typeface="+mn-ea"/>
              </a:rPr>
              <a:t>in_weights</a:t>
            </a:r>
            <a:r>
              <a:rPr kumimoji="1" lang="en-US" altLang="ko-KR" sz="1600" dirty="0">
                <a:solidFill>
                  <a:srgbClr val="00B050"/>
                </a:solidFill>
                <a:latin typeface="+mn-ea"/>
              </a:rPr>
              <a:t>, float</a:t>
            </a:r>
            <a:r>
              <a:rPr kumimoji="1" lang="ko-KR" altLang="en-US" sz="1600" dirty="0">
                <a:solidFill>
                  <a:srgbClr val="00B050"/>
                </a:solidFill>
                <a:latin typeface="+mn-ea"/>
              </a:rPr>
              <a:t>* </a:t>
            </a:r>
            <a:r>
              <a:rPr kumimoji="1" lang="en-US" altLang="ko-KR" sz="1600" dirty="0" err="1">
                <a:solidFill>
                  <a:srgbClr val="00B050"/>
                </a:solidFill>
                <a:latin typeface="+mn-ea"/>
              </a:rPr>
              <a:t>in_biases</a:t>
            </a:r>
            <a:r>
              <a:rPr kumimoji="1" lang="en-US" altLang="ko-KR" sz="1600" dirty="0">
                <a:solidFill>
                  <a:prstClr val="black"/>
                </a:solidFill>
                <a:latin typeface="+mn-ea"/>
              </a:rPr>
              <a:t>, </a:t>
            </a:r>
            <a:r>
              <a:rPr kumimoji="1" lang="en-US" altLang="ko-KR" sz="1600" dirty="0">
                <a:solidFill>
                  <a:srgbClr val="00B0F0"/>
                </a:solidFill>
                <a:latin typeface="+mn-ea"/>
              </a:rPr>
              <a:t>float</a:t>
            </a:r>
            <a:r>
              <a:rPr kumimoji="1" lang="ko-KR" altLang="en-US" sz="1600" dirty="0">
                <a:solidFill>
                  <a:srgbClr val="00B0F0"/>
                </a:solidFill>
                <a:latin typeface="+mn-ea"/>
              </a:rPr>
              <a:t>* </a:t>
            </a:r>
            <a:r>
              <a:rPr kumimoji="1" lang="en-US" altLang="ko-KR" sz="1600" dirty="0" err="1">
                <a:solidFill>
                  <a:srgbClr val="00B0F0"/>
                </a:solidFill>
                <a:latin typeface="+mn-ea"/>
              </a:rPr>
              <a:t>out_weights</a:t>
            </a:r>
            <a:r>
              <a:rPr kumimoji="1" lang="en-US" altLang="ko-KR" sz="1600" dirty="0">
                <a:solidFill>
                  <a:srgbClr val="00B0F0"/>
                </a:solidFill>
                <a:latin typeface="+mn-ea"/>
              </a:rPr>
              <a:t>, float* </a:t>
            </a:r>
            <a:r>
              <a:rPr kumimoji="1" lang="en-US" altLang="ko-KR" sz="1600" dirty="0" err="1">
                <a:solidFill>
                  <a:srgbClr val="00B0F0"/>
                </a:solidFill>
                <a:latin typeface="+mn-ea"/>
              </a:rPr>
              <a:t>out_biases</a:t>
            </a:r>
            <a:r>
              <a:rPr kumimoji="1" lang="en-US" altLang="ko-KR" sz="1600" dirty="0">
                <a:solidFill>
                  <a:prstClr val="black"/>
                </a:solidFill>
                <a:latin typeface="+mn-ea"/>
              </a:rPr>
              <a:t>)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B87B071-2DAC-4E90-A78D-B20429F486CB}"/>
              </a:ext>
            </a:extLst>
          </p:cNvPr>
          <p:cNvSpPr/>
          <p:nvPr/>
        </p:nvSpPr>
        <p:spPr>
          <a:xfrm>
            <a:off x="645265" y="2391479"/>
            <a:ext cx="6039671" cy="1077218"/>
          </a:xfrm>
          <a:prstGeom prst="rect">
            <a:avLst/>
          </a:prstGeom>
          <a:ln w="3175">
            <a:solidFill>
              <a:sysClr val="windowText" lastClr="00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for (int t=0; t&lt;tokens; t++) {</a:t>
            </a:r>
          </a:p>
          <a:p>
            <a:pPr marL="0" marR="0" lvl="0" indent="0" defTabSz="91440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600" kern="0" dirty="0">
                <a:solidFill>
                  <a:prstClr val="black"/>
                </a:solidFill>
                <a:latin typeface="+mn-ea"/>
              </a:rPr>
              <a:t>     Q = input </a:t>
            </a:r>
            <a:r>
              <a:rPr kumimoji="1" lang="ko-KR" altLang="en-US" sz="1600" kern="0" dirty="0">
                <a:solidFill>
                  <a:prstClr val="black"/>
                </a:solidFill>
                <a:latin typeface="+mn-ea"/>
              </a:rPr>
              <a:t>* </a:t>
            </a:r>
            <a:r>
              <a:rPr kumimoji="1" lang="en-US" altLang="ko-KR" sz="1600" kern="0" dirty="0" err="1">
                <a:solidFill>
                  <a:prstClr val="black"/>
                </a:solidFill>
                <a:latin typeface="+mn-ea"/>
              </a:rPr>
              <a:t>in_weight</a:t>
            </a:r>
            <a:r>
              <a:rPr kumimoji="1" lang="en-US" altLang="ko-KR" sz="1600" kern="0" dirty="0">
                <a:solidFill>
                  <a:prstClr val="black"/>
                </a:solidFill>
                <a:latin typeface="+mn-ea"/>
              </a:rPr>
              <a:t>[</a:t>
            </a:r>
            <a:r>
              <a:rPr kumimoji="1" lang="en-US" altLang="ko-KR" sz="1600" kern="0" dirty="0" err="1">
                <a:solidFill>
                  <a:prstClr val="black"/>
                </a:solidFill>
                <a:latin typeface="+mn-ea"/>
              </a:rPr>
              <a:t>Q_dim</a:t>
            </a:r>
            <a:r>
              <a:rPr kumimoji="1" lang="en-US" altLang="ko-KR" sz="1600" kern="0" dirty="0">
                <a:solidFill>
                  <a:prstClr val="black"/>
                </a:solidFill>
                <a:latin typeface="+mn-ea"/>
              </a:rPr>
              <a:t>] + </a:t>
            </a:r>
            <a:r>
              <a:rPr kumimoji="1" lang="en-US" altLang="ko-KR" sz="1600" kern="0" dirty="0" err="1">
                <a:solidFill>
                  <a:prstClr val="black"/>
                </a:solidFill>
                <a:latin typeface="+mn-ea"/>
              </a:rPr>
              <a:t>in_bias</a:t>
            </a:r>
            <a:r>
              <a:rPr kumimoji="1" lang="en-US" altLang="ko-KR" sz="1600" kern="0" dirty="0">
                <a:solidFill>
                  <a:prstClr val="black"/>
                </a:solidFill>
                <a:latin typeface="+mn-ea"/>
              </a:rPr>
              <a:t>[</a:t>
            </a:r>
            <a:r>
              <a:rPr kumimoji="1" lang="en-US" altLang="ko-KR" sz="1600" kern="0" dirty="0" err="1">
                <a:solidFill>
                  <a:prstClr val="black"/>
                </a:solidFill>
                <a:latin typeface="+mn-ea"/>
              </a:rPr>
              <a:t>Q_dim</a:t>
            </a:r>
            <a:r>
              <a:rPr kumimoji="1" lang="en-US" altLang="ko-KR" sz="1600" kern="0" dirty="0">
                <a:solidFill>
                  <a:prstClr val="black"/>
                </a:solidFill>
                <a:latin typeface="+mn-ea"/>
              </a:rPr>
              <a:t>];</a:t>
            </a:r>
          </a:p>
          <a:p>
            <a:pPr marL="0" marR="0" lvl="0" indent="0" defTabSz="91440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600" kern="0" dirty="0">
                <a:solidFill>
                  <a:prstClr val="black"/>
                </a:solidFill>
                <a:latin typeface="+mn-ea"/>
              </a:rPr>
              <a:t>     K= input </a:t>
            </a:r>
            <a:r>
              <a:rPr kumimoji="1" lang="ko-KR" altLang="en-US" sz="1600" kern="0" dirty="0">
                <a:solidFill>
                  <a:prstClr val="black"/>
                </a:solidFill>
                <a:latin typeface="+mn-ea"/>
              </a:rPr>
              <a:t>* </a:t>
            </a:r>
            <a:r>
              <a:rPr kumimoji="1" lang="en-US" altLang="ko-KR" sz="1600" kern="0" dirty="0" err="1">
                <a:solidFill>
                  <a:prstClr val="black"/>
                </a:solidFill>
                <a:latin typeface="+mn-ea"/>
              </a:rPr>
              <a:t>in_weight</a:t>
            </a:r>
            <a:r>
              <a:rPr kumimoji="1" lang="en-US" altLang="ko-KR" sz="1600" kern="0" dirty="0">
                <a:solidFill>
                  <a:prstClr val="black"/>
                </a:solidFill>
                <a:latin typeface="+mn-ea"/>
              </a:rPr>
              <a:t>[</a:t>
            </a:r>
            <a:r>
              <a:rPr kumimoji="1" lang="en-US" altLang="ko-KR" sz="1600" kern="0" dirty="0" err="1">
                <a:solidFill>
                  <a:prstClr val="black"/>
                </a:solidFill>
                <a:latin typeface="+mn-ea"/>
              </a:rPr>
              <a:t>K_dim</a:t>
            </a:r>
            <a:r>
              <a:rPr kumimoji="1" lang="en-US" altLang="ko-KR" sz="1600" kern="0" dirty="0">
                <a:solidFill>
                  <a:prstClr val="black"/>
                </a:solidFill>
                <a:latin typeface="+mn-ea"/>
              </a:rPr>
              <a:t>] + </a:t>
            </a:r>
            <a:r>
              <a:rPr kumimoji="1" lang="en-US" altLang="ko-KR" sz="1600" kern="0" dirty="0" err="1">
                <a:solidFill>
                  <a:prstClr val="black"/>
                </a:solidFill>
                <a:latin typeface="+mn-ea"/>
              </a:rPr>
              <a:t>in_bias</a:t>
            </a:r>
            <a:r>
              <a:rPr kumimoji="1" lang="en-US" altLang="ko-KR" sz="1600" kern="0" dirty="0">
                <a:solidFill>
                  <a:prstClr val="black"/>
                </a:solidFill>
                <a:latin typeface="+mn-ea"/>
              </a:rPr>
              <a:t>[</a:t>
            </a:r>
            <a:r>
              <a:rPr kumimoji="1" lang="en-US" altLang="ko-KR" sz="1600" kern="0" dirty="0" err="1">
                <a:solidFill>
                  <a:prstClr val="black"/>
                </a:solidFill>
                <a:latin typeface="+mn-ea"/>
              </a:rPr>
              <a:t>K_dim</a:t>
            </a:r>
            <a:r>
              <a:rPr kumimoji="1" lang="en-US" altLang="ko-KR" sz="1600" kern="0" dirty="0">
                <a:solidFill>
                  <a:prstClr val="black"/>
                </a:solidFill>
                <a:latin typeface="+mn-ea"/>
              </a:rPr>
              <a:t>];</a:t>
            </a:r>
          </a:p>
          <a:p>
            <a:pPr marL="0" marR="0" lvl="0" indent="0" defTabSz="91440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600" kern="0" dirty="0">
                <a:solidFill>
                  <a:prstClr val="black"/>
                </a:solidFill>
                <a:latin typeface="+mn-ea"/>
              </a:rPr>
              <a:t>     V = input </a:t>
            </a:r>
            <a:r>
              <a:rPr kumimoji="1" lang="ko-KR" altLang="en-US" sz="1600" kern="0" dirty="0">
                <a:solidFill>
                  <a:prstClr val="black"/>
                </a:solidFill>
                <a:latin typeface="+mn-ea"/>
              </a:rPr>
              <a:t>* </a:t>
            </a:r>
            <a:r>
              <a:rPr kumimoji="1" lang="en-US" altLang="ko-KR" sz="1600" kern="0" dirty="0" err="1">
                <a:solidFill>
                  <a:prstClr val="black"/>
                </a:solidFill>
                <a:latin typeface="+mn-ea"/>
              </a:rPr>
              <a:t>in_weight</a:t>
            </a:r>
            <a:r>
              <a:rPr kumimoji="1" lang="en-US" altLang="ko-KR" sz="1600" kern="0" dirty="0">
                <a:solidFill>
                  <a:prstClr val="black"/>
                </a:solidFill>
                <a:latin typeface="+mn-ea"/>
              </a:rPr>
              <a:t>[</a:t>
            </a:r>
            <a:r>
              <a:rPr kumimoji="1" lang="en-US" altLang="ko-KR" sz="1600" kern="0" dirty="0" err="1">
                <a:solidFill>
                  <a:prstClr val="black"/>
                </a:solidFill>
                <a:latin typeface="+mn-ea"/>
              </a:rPr>
              <a:t>V_dim</a:t>
            </a:r>
            <a:r>
              <a:rPr kumimoji="1" lang="en-US" altLang="ko-KR" sz="1600" kern="0" dirty="0">
                <a:solidFill>
                  <a:prstClr val="black"/>
                </a:solidFill>
                <a:latin typeface="+mn-ea"/>
              </a:rPr>
              <a:t>] + </a:t>
            </a:r>
            <a:r>
              <a:rPr kumimoji="1" lang="en-US" altLang="ko-KR" sz="1600" kern="0" dirty="0" err="1">
                <a:solidFill>
                  <a:prstClr val="black"/>
                </a:solidFill>
                <a:latin typeface="+mn-ea"/>
              </a:rPr>
              <a:t>in_bias</a:t>
            </a:r>
            <a:r>
              <a:rPr kumimoji="1" lang="en-US" altLang="ko-KR" sz="1600" kern="0" dirty="0">
                <a:solidFill>
                  <a:prstClr val="black"/>
                </a:solidFill>
                <a:latin typeface="+mn-ea"/>
              </a:rPr>
              <a:t>[</a:t>
            </a:r>
            <a:r>
              <a:rPr kumimoji="1" lang="en-US" altLang="ko-KR" sz="1600" kern="0" dirty="0" err="1">
                <a:solidFill>
                  <a:prstClr val="black"/>
                </a:solidFill>
                <a:latin typeface="+mn-ea"/>
              </a:rPr>
              <a:t>V_dim</a:t>
            </a:r>
            <a:r>
              <a:rPr kumimoji="1" lang="en-US" altLang="ko-KR" sz="1600" kern="0" dirty="0">
                <a:solidFill>
                  <a:prstClr val="black"/>
                </a:solidFill>
                <a:latin typeface="+mn-ea"/>
              </a:rPr>
              <a:t>];	</a:t>
            </a:r>
            <a:r>
              <a:rPr kumimoji="1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}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E41EAA0-537F-F7CC-3B5E-3D5A7DA78746}"/>
              </a:ext>
            </a:extLst>
          </p:cNvPr>
          <p:cNvSpPr/>
          <p:nvPr/>
        </p:nvSpPr>
        <p:spPr>
          <a:xfrm>
            <a:off x="645263" y="3604144"/>
            <a:ext cx="6039671" cy="1815882"/>
          </a:xfrm>
          <a:prstGeom prst="rect">
            <a:avLst/>
          </a:prstGeom>
          <a:ln w="3175">
            <a:solidFill>
              <a:sysClr val="windowText" lastClr="00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for (</a:t>
            </a:r>
            <a:r>
              <a:rPr kumimoji="1" lang="en-US" altLang="ko-KR" sz="16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num_heads</a:t>
            </a:r>
            <a:r>
              <a:rPr kumimoji="1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) {</a:t>
            </a:r>
          </a:p>
          <a:p>
            <a:pPr marL="0" marR="0" lvl="0" indent="0" defTabSz="91440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600" kern="0" dirty="0">
                <a:solidFill>
                  <a:prstClr val="black"/>
                </a:solidFill>
                <a:latin typeface="+mn-ea"/>
              </a:rPr>
              <a:t>     // attn1. Q</a:t>
            </a:r>
            <a:r>
              <a:rPr kumimoji="1" lang="ko-KR" altLang="en-US" sz="1600" kern="0" dirty="0">
                <a:solidFill>
                  <a:prstClr val="black"/>
                </a:solidFill>
                <a:latin typeface="+mn-ea"/>
              </a:rPr>
              <a:t>*</a:t>
            </a:r>
            <a:r>
              <a:rPr kumimoji="1" lang="en-US" altLang="ko-KR" sz="1600" kern="0" dirty="0">
                <a:solidFill>
                  <a:prstClr val="black"/>
                </a:solidFill>
                <a:latin typeface="+mn-ea"/>
              </a:rPr>
              <a:t>K </a:t>
            </a:r>
            <a:r>
              <a:rPr kumimoji="1" lang="ko-KR" altLang="en-US" sz="1600" kern="0" dirty="0">
                <a:solidFill>
                  <a:prstClr val="black"/>
                </a:solidFill>
                <a:latin typeface="+mn-ea"/>
              </a:rPr>
              <a:t>연산 및 스케일링 수행</a:t>
            </a:r>
            <a:endParaRPr kumimoji="1" lang="en-US" altLang="ko-KR" sz="1600" kern="0" dirty="0">
              <a:solidFill>
                <a:prstClr val="black"/>
              </a:solidFill>
              <a:latin typeface="+mn-ea"/>
            </a:endParaRPr>
          </a:p>
          <a:p>
            <a:pPr marL="0" marR="0" lvl="0" indent="0" defTabSz="91440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600" kern="0" dirty="0">
                <a:solidFill>
                  <a:prstClr val="black"/>
                </a:solidFill>
                <a:latin typeface="+mn-ea"/>
              </a:rPr>
              <a:t>     int scores = Q </a:t>
            </a:r>
            <a:r>
              <a:rPr kumimoji="1" lang="ko-KR" altLang="en-US" sz="1600" kern="0" dirty="0">
                <a:solidFill>
                  <a:prstClr val="black"/>
                </a:solidFill>
                <a:latin typeface="+mn-ea"/>
              </a:rPr>
              <a:t>* </a:t>
            </a:r>
            <a:r>
              <a:rPr kumimoji="1" lang="en-US" altLang="ko-KR" sz="1600" kern="0" dirty="0">
                <a:solidFill>
                  <a:prstClr val="black"/>
                </a:solidFill>
                <a:latin typeface="+mn-ea"/>
              </a:rPr>
              <a:t>K / </a:t>
            </a:r>
            <a:r>
              <a:rPr kumimoji="1" lang="en-US" altLang="ko-KR" sz="1600" kern="0" dirty="0" err="1">
                <a:solidFill>
                  <a:prstClr val="black"/>
                </a:solidFill>
                <a:latin typeface="+mn-ea"/>
              </a:rPr>
              <a:t>sqrtf</a:t>
            </a:r>
            <a:r>
              <a:rPr kumimoji="1" lang="en-US" altLang="ko-KR" sz="1600" kern="0" dirty="0">
                <a:solidFill>
                  <a:prstClr val="black"/>
                </a:solidFill>
                <a:latin typeface="+mn-ea"/>
              </a:rPr>
              <a:t>(</a:t>
            </a:r>
            <a:r>
              <a:rPr kumimoji="1" lang="en-US" altLang="ko-KR" sz="1600" kern="0" dirty="0" err="1">
                <a:solidFill>
                  <a:prstClr val="black"/>
                </a:solidFill>
                <a:latin typeface="+mn-ea"/>
              </a:rPr>
              <a:t>head_dim</a:t>
            </a:r>
            <a:r>
              <a:rPr kumimoji="1" lang="en-US" altLang="ko-KR" sz="1600" kern="0" dirty="0">
                <a:solidFill>
                  <a:prstClr val="black"/>
                </a:solidFill>
                <a:latin typeface="+mn-ea"/>
              </a:rPr>
              <a:t>);</a:t>
            </a:r>
          </a:p>
          <a:p>
            <a:pPr marL="0" marR="0" lvl="0" indent="0" defTabSz="91440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600" kern="0" dirty="0">
                <a:solidFill>
                  <a:prstClr val="black"/>
                </a:solidFill>
                <a:latin typeface="+mn-ea"/>
              </a:rPr>
              <a:t>     // attn2. </a:t>
            </a:r>
            <a:r>
              <a:rPr kumimoji="1" lang="en-US" altLang="ko-KR" sz="1600" kern="0" dirty="0" err="1">
                <a:solidFill>
                  <a:prstClr val="black"/>
                </a:solidFill>
                <a:latin typeface="+mn-ea"/>
              </a:rPr>
              <a:t>Softmax</a:t>
            </a:r>
            <a:r>
              <a:rPr kumimoji="1" lang="en-US" altLang="ko-KR" sz="1600" kern="0" dirty="0">
                <a:solidFill>
                  <a:prstClr val="black"/>
                </a:solidFill>
                <a:latin typeface="+mn-ea"/>
              </a:rPr>
              <a:t> </a:t>
            </a:r>
            <a:r>
              <a:rPr kumimoji="1" lang="ko-KR" altLang="en-US" sz="1600" kern="0" dirty="0">
                <a:solidFill>
                  <a:prstClr val="black"/>
                </a:solidFill>
                <a:latin typeface="+mn-ea"/>
              </a:rPr>
              <a:t>수행</a:t>
            </a:r>
            <a:endParaRPr kumimoji="1" lang="en-US" altLang="ko-KR" sz="1600" kern="0" dirty="0">
              <a:solidFill>
                <a:prstClr val="black"/>
              </a:solidFill>
              <a:latin typeface="+mn-ea"/>
            </a:endParaRPr>
          </a:p>
          <a:p>
            <a:pPr marL="0" marR="0" lvl="0" indent="0" defTabSz="91440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600" kern="0" dirty="0">
                <a:solidFill>
                  <a:prstClr val="black"/>
                </a:solidFill>
                <a:latin typeface="+mn-ea"/>
              </a:rPr>
              <a:t>     int scores = </a:t>
            </a:r>
            <a:r>
              <a:rPr kumimoji="1" lang="en-US" altLang="ko-KR" sz="1600" kern="0" dirty="0" err="1">
                <a:solidFill>
                  <a:prstClr val="black"/>
                </a:solidFill>
                <a:latin typeface="+mn-ea"/>
              </a:rPr>
              <a:t>Softmax</a:t>
            </a:r>
            <a:r>
              <a:rPr kumimoji="1" lang="en-US" altLang="ko-KR" sz="1600" kern="0" dirty="0">
                <a:solidFill>
                  <a:prstClr val="black"/>
                </a:solidFill>
                <a:latin typeface="+mn-ea"/>
              </a:rPr>
              <a:t>(scores)</a:t>
            </a:r>
          </a:p>
          <a:p>
            <a:pPr marL="0" marR="0" lvl="0" indent="0" defTabSz="91440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     // attn3. V</a:t>
            </a:r>
            <a:r>
              <a:rPr kumimoji="1" lang="ko-KR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와 곱해 </a:t>
            </a:r>
            <a:r>
              <a:rPr kumimoji="1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head output </a:t>
            </a:r>
            <a:r>
              <a:rPr kumimoji="1" lang="ko-KR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계산</a:t>
            </a:r>
            <a:endParaRPr kumimoji="1" lang="en-US" altLang="ko-KR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  <a:p>
            <a:pPr marL="0" marR="0" lvl="0" indent="0" defTabSz="91440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600" kern="0" dirty="0">
                <a:solidFill>
                  <a:prstClr val="black"/>
                </a:solidFill>
                <a:latin typeface="+mn-ea"/>
              </a:rPr>
              <a:t>     int </a:t>
            </a:r>
            <a:r>
              <a:rPr kumimoji="1" lang="en-US" altLang="ko-KR" sz="1600" kern="0" dirty="0" err="1">
                <a:solidFill>
                  <a:prstClr val="black"/>
                </a:solidFill>
                <a:latin typeface="+mn-ea"/>
              </a:rPr>
              <a:t>attn_score</a:t>
            </a:r>
            <a:r>
              <a:rPr kumimoji="1" lang="en-US" altLang="ko-KR" sz="1600" kern="0" dirty="0">
                <a:solidFill>
                  <a:prstClr val="black"/>
                </a:solidFill>
                <a:latin typeface="+mn-ea"/>
              </a:rPr>
              <a:t> = scores </a:t>
            </a:r>
            <a:r>
              <a:rPr kumimoji="1" lang="ko-KR" altLang="en-US" sz="1600" kern="0" dirty="0">
                <a:solidFill>
                  <a:prstClr val="black"/>
                </a:solidFill>
                <a:latin typeface="+mn-ea"/>
              </a:rPr>
              <a:t>* </a:t>
            </a:r>
            <a:r>
              <a:rPr kumimoji="1" lang="en-US" altLang="ko-KR" sz="1600" kern="0" dirty="0">
                <a:solidFill>
                  <a:prstClr val="black"/>
                </a:solidFill>
                <a:latin typeface="+mn-ea"/>
              </a:rPr>
              <a:t>V;	</a:t>
            </a:r>
            <a:r>
              <a:rPr kumimoji="1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}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FEDBD46-D2EA-9552-FA8F-B6C7E8294C3A}"/>
              </a:ext>
            </a:extLst>
          </p:cNvPr>
          <p:cNvSpPr/>
          <p:nvPr/>
        </p:nvSpPr>
        <p:spPr>
          <a:xfrm>
            <a:off x="645264" y="5567470"/>
            <a:ext cx="6039671" cy="584775"/>
          </a:xfrm>
          <a:prstGeom prst="rect">
            <a:avLst/>
          </a:prstGeom>
          <a:ln w="3175">
            <a:solidFill>
              <a:sysClr val="windowText" lastClr="00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for (</a:t>
            </a:r>
            <a:r>
              <a:rPr kumimoji="1" lang="en-US" altLang="ko-KR" sz="16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num_tokens</a:t>
            </a:r>
            <a:r>
              <a:rPr kumimoji="1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) {</a:t>
            </a:r>
          </a:p>
          <a:p>
            <a:pPr marL="0" marR="0" lvl="0" indent="0" defTabSz="91440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600" kern="0" dirty="0">
                <a:solidFill>
                  <a:prstClr val="black"/>
                </a:solidFill>
                <a:latin typeface="+mn-ea"/>
              </a:rPr>
              <a:t>     int </a:t>
            </a:r>
            <a:r>
              <a:rPr kumimoji="1" lang="en-US" altLang="ko-KR" sz="1600" kern="0" dirty="0" err="1">
                <a:solidFill>
                  <a:prstClr val="black"/>
                </a:solidFill>
                <a:latin typeface="+mn-ea"/>
              </a:rPr>
              <a:t>attn_output</a:t>
            </a:r>
            <a:r>
              <a:rPr kumimoji="1" lang="en-US" altLang="ko-KR" sz="1600" kern="0" dirty="0">
                <a:solidFill>
                  <a:prstClr val="black"/>
                </a:solidFill>
                <a:latin typeface="+mn-ea"/>
              </a:rPr>
              <a:t> = </a:t>
            </a:r>
            <a:r>
              <a:rPr kumimoji="1" lang="en-US" altLang="ko-KR" sz="1600" kern="0" dirty="0" err="1">
                <a:solidFill>
                  <a:prstClr val="black"/>
                </a:solidFill>
                <a:latin typeface="+mn-ea"/>
              </a:rPr>
              <a:t>attn_score</a:t>
            </a:r>
            <a:r>
              <a:rPr kumimoji="1" lang="en-US" altLang="ko-KR" sz="1600" kern="0" dirty="0">
                <a:solidFill>
                  <a:prstClr val="black"/>
                </a:solidFill>
                <a:latin typeface="+mn-ea"/>
              </a:rPr>
              <a:t> </a:t>
            </a:r>
            <a:r>
              <a:rPr kumimoji="1" lang="ko-KR" altLang="en-US" sz="1600" kern="0" dirty="0">
                <a:solidFill>
                  <a:prstClr val="black"/>
                </a:solidFill>
                <a:latin typeface="+mn-ea"/>
              </a:rPr>
              <a:t>* </a:t>
            </a:r>
            <a:r>
              <a:rPr kumimoji="1" lang="en-US" altLang="ko-KR" sz="1600" kern="0" dirty="0" err="1">
                <a:solidFill>
                  <a:prstClr val="black"/>
                </a:solidFill>
                <a:latin typeface="+mn-ea"/>
              </a:rPr>
              <a:t>out_weight</a:t>
            </a:r>
            <a:r>
              <a:rPr kumimoji="1" lang="en-US" altLang="ko-KR" sz="1600" kern="0" dirty="0">
                <a:solidFill>
                  <a:prstClr val="black"/>
                </a:solidFill>
                <a:latin typeface="+mn-ea"/>
              </a:rPr>
              <a:t> + </a:t>
            </a:r>
            <a:r>
              <a:rPr kumimoji="1" lang="en-US" altLang="ko-KR" sz="1600" kern="0" dirty="0" err="1">
                <a:solidFill>
                  <a:prstClr val="black"/>
                </a:solidFill>
                <a:latin typeface="+mn-ea"/>
              </a:rPr>
              <a:t>out_bias</a:t>
            </a:r>
            <a:r>
              <a:rPr kumimoji="1" lang="en-US" altLang="ko-KR" sz="1600" kern="0" dirty="0">
                <a:solidFill>
                  <a:prstClr val="black"/>
                </a:solidFill>
                <a:latin typeface="+mn-ea"/>
              </a:rPr>
              <a:t>;     </a:t>
            </a:r>
            <a:r>
              <a:rPr kumimoji="1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967792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48595B69-5864-6937-52BC-542892826D39}"/>
              </a:ext>
            </a:extLst>
          </p:cNvPr>
          <p:cNvCxnSpPr>
            <a:cxnSpLocks/>
          </p:cNvCxnSpPr>
          <p:nvPr/>
        </p:nvCxnSpPr>
        <p:spPr>
          <a:xfrm flipV="1">
            <a:off x="2320411" y="2802193"/>
            <a:ext cx="0" cy="28808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제목 1">
            <a:extLst>
              <a:ext uri="{FF2B5EF4-FFF2-40B4-BE49-F238E27FC236}">
                <a16:creationId xmlns:a16="http://schemas.microsoft.com/office/drawing/2014/main" id="{5565F20A-FD40-47C2-8D2B-7D9C1E3D5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Multi-Layer Perceptron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6F019E-7DB2-4BD5-BD2B-0EE17158A65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7646" y="1302104"/>
            <a:ext cx="8064000" cy="1079035"/>
          </a:xfrm>
        </p:spPr>
        <p:txBody>
          <a:bodyPr/>
          <a:lstStyle/>
          <a:p>
            <a:r>
              <a:rPr lang="en-US" altLang="ko-KR" dirty="0"/>
              <a:t>Multi-Layer Perceptron</a:t>
            </a:r>
          </a:p>
          <a:p>
            <a:pPr lvl="1"/>
            <a:r>
              <a:rPr lang="ko-KR" altLang="en-US" dirty="0"/>
              <a:t>각 </a:t>
            </a:r>
            <a:r>
              <a:rPr lang="en-US" altLang="ko-KR" dirty="0"/>
              <a:t>token</a:t>
            </a:r>
            <a:r>
              <a:rPr lang="ko-KR" altLang="en-US" dirty="0"/>
              <a:t>의 </a:t>
            </a:r>
            <a:r>
              <a:rPr lang="en-US" altLang="ko-KR" dirty="0"/>
              <a:t>feature</a:t>
            </a:r>
            <a:r>
              <a:rPr lang="ko-KR" altLang="en-US" dirty="0"/>
              <a:t>를 비선형적으로 변환해 </a:t>
            </a:r>
            <a:r>
              <a:rPr lang="en-US" altLang="ko-KR" b="1" dirty="0"/>
              <a:t>feature </a:t>
            </a:r>
            <a:r>
              <a:rPr lang="ko-KR" altLang="en-US" b="1" dirty="0"/>
              <a:t>표현력을 높이는 역할</a:t>
            </a:r>
            <a:endParaRPr lang="ko-KR" altLang="en-US" dirty="0"/>
          </a:p>
          <a:p>
            <a:pPr lvl="1"/>
            <a:r>
              <a:rPr lang="en-US" altLang="ko-KR" dirty="0"/>
              <a:t>Fully Connected layer 2</a:t>
            </a:r>
            <a:r>
              <a:rPr lang="ko-KR" altLang="en-US" dirty="0"/>
              <a:t>개 </a:t>
            </a:r>
            <a:r>
              <a:rPr lang="en-US" altLang="ko-KR" dirty="0"/>
              <a:t>+ </a:t>
            </a:r>
            <a:r>
              <a:rPr lang="ko-KR" altLang="en-US" dirty="0"/>
              <a:t>활성화 함수</a:t>
            </a:r>
            <a:r>
              <a:rPr lang="en-US" altLang="ko-KR" dirty="0"/>
              <a:t>(GELU)</a:t>
            </a:r>
          </a:p>
        </p:txBody>
      </p:sp>
      <p:sp>
        <p:nvSpPr>
          <p:cNvPr id="18" name="사다리꼴 17">
            <a:extLst>
              <a:ext uri="{FF2B5EF4-FFF2-40B4-BE49-F238E27FC236}">
                <a16:creationId xmlns:a16="http://schemas.microsoft.com/office/drawing/2014/main" id="{BACF0DA9-C7D9-3073-91EA-29CAFD5E0F56}"/>
              </a:ext>
            </a:extLst>
          </p:cNvPr>
          <p:cNvSpPr/>
          <p:nvPr/>
        </p:nvSpPr>
        <p:spPr>
          <a:xfrm rot="10800000">
            <a:off x="766915" y="4771830"/>
            <a:ext cx="3106993" cy="619432"/>
          </a:xfrm>
          <a:prstGeom prst="trapezoid">
            <a:avLst>
              <a:gd name="adj" fmla="val 120238"/>
            </a:avLst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사다리꼴 18">
            <a:extLst>
              <a:ext uri="{FF2B5EF4-FFF2-40B4-BE49-F238E27FC236}">
                <a16:creationId xmlns:a16="http://schemas.microsoft.com/office/drawing/2014/main" id="{FF7D638F-C030-096B-F634-DD8254B613A5}"/>
              </a:ext>
            </a:extLst>
          </p:cNvPr>
          <p:cNvSpPr/>
          <p:nvPr/>
        </p:nvSpPr>
        <p:spPr>
          <a:xfrm>
            <a:off x="766915" y="3152664"/>
            <a:ext cx="3106993" cy="619432"/>
          </a:xfrm>
          <a:prstGeom prst="trapezoid">
            <a:avLst>
              <a:gd name="adj" fmla="val 120238"/>
            </a:avLst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8A934E0B-52A9-6CCB-D653-A3137225B4D0}"/>
              </a:ext>
            </a:extLst>
          </p:cNvPr>
          <p:cNvSpPr txBox="1">
            <a:spLocks/>
          </p:cNvSpPr>
          <p:nvPr/>
        </p:nvSpPr>
        <p:spPr>
          <a:xfrm>
            <a:off x="1818964" y="4960695"/>
            <a:ext cx="1002894" cy="300694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KoPubWorld돋움체 Medium" panose="00000600000000000000" pitchFamily="2" charset="-127"/>
              <a:buChar char="•"/>
              <a:defRPr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KoPubWorld돋움체 Medium" panose="00000600000000000000" pitchFamily="2" charset="-127"/>
              <a:buChar char="◦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0150" indent="-2857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KoPubWorld돋움체 Medium" panose="00000600000000000000" pitchFamily="2" charset="-127"/>
              <a:buChar char="+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KoPubWorld돋움체 Medium" panose="00000600000000000000" pitchFamily="2" charset="-127"/>
              <a:buChar char="-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00250" indent="-1714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KoPubWorld돋움체 Medium" panose="00000600000000000000" pitchFamily="2" charset="-127"/>
              <a:buChar char="-"/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b="0" dirty="0"/>
              <a:t>FC1</a:t>
            </a:r>
          </a:p>
        </p:txBody>
      </p:sp>
      <p:sp>
        <p:nvSpPr>
          <p:cNvPr id="23" name="내용 개체 틀 2">
            <a:extLst>
              <a:ext uri="{FF2B5EF4-FFF2-40B4-BE49-F238E27FC236}">
                <a16:creationId xmlns:a16="http://schemas.microsoft.com/office/drawing/2014/main" id="{6E54EF8B-4CE0-CF86-5D31-3E12AF7CEF80}"/>
              </a:ext>
            </a:extLst>
          </p:cNvPr>
          <p:cNvSpPr txBox="1">
            <a:spLocks/>
          </p:cNvSpPr>
          <p:nvPr/>
        </p:nvSpPr>
        <p:spPr>
          <a:xfrm>
            <a:off x="1818963" y="3324951"/>
            <a:ext cx="1002894" cy="300694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KoPubWorld돋움체 Medium" panose="00000600000000000000" pitchFamily="2" charset="-127"/>
              <a:buChar char="•"/>
              <a:defRPr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KoPubWorld돋움체 Medium" panose="00000600000000000000" pitchFamily="2" charset="-127"/>
              <a:buChar char="◦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0150" indent="-2857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KoPubWorld돋움체 Medium" panose="00000600000000000000" pitchFamily="2" charset="-127"/>
              <a:buChar char="+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KoPubWorld돋움체 Medium" panose="00000600000000000000" pitchFamily="2" charset="-127"/>
              <a:buChar char="-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00250" indent="-1714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KoPubWorld돋움체 Medium" panose="00000600000000000000" pitchFamily="2" charset="-127"/>
              <a:buChar char="-"/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b="0" dirty="0"/>
              <a:t>FC2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803A2E0-1685-9F96-062C-54C8AE39C8E4}"/>
              </a:ext>
            </a:extLst>
          </p:cNvPr>
          <p:cNvSpPr/>
          <p:nvPr/>
        </p:nvSpPr>
        <p:spPr>
          <a:xfrm>
            <a:off x="750860" y="4001729"/>
            <a:ext cx="3106994" cy="4424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내용 개체 틀 2">
            <a:extLst>
              <a:ext uri="{FF2B5EF4-FFF2-40B4-BE49-F238E27FC236}">
                <a16:creationId xmlns:a16="http://schemas.microsoft.com/office/drawing/2014/main" id="{1A06CCCE-2283-0EF9-DF62-BF2479B13828}"/>
              </a:ext>
            </a:extLst>
          </p:cNvPr>
          <p:cNvSpPr txBox="1">
            <a:spLocks/>
          </p:cNvSpPr>
          <p:nvPr/>
        </p:nvSpPr>
        <p:spPr>
          <a:xfrm>
            <a:off x="1666566" y="4099746"/>
            <a:ext cx="1307688" cy="300694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KoPubWorld돋움체 Medium" panose="00000600000000000000" pitchFamily="2" charset="-127"/>
              <a:buChar char="•"/>
              <a:defRPr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KoPubWorld돋움체 Medium" panose="00000600000000000000" pitchFamily="2" charset="-127"/>
              <a:buChar char="◦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0150" indent="-2857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KoPubWorld돋움체 Medium" panose="00000600000000000000" pitchFamily="2" charset="-127"/>
              <a:buChar char="+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KoPubWorld돋움체 Medium" panose="00000600000000000000" pitchFamily="2" charset="-127"/>
              <a:buChar char="-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00250" indent="-1714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KoPubWorld돋움체 Medium" panose="00000600000000000000" pitchFamily="2" charset="-127"/>
              <a:buChar char="-"/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b="0" dirty="0"/>
              <a:t>Activation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768477B-82ED-F307-280A-8C591E4EDC7A}"/>
                  </a:ext>
                </a:extLst>
              </p:cNvPr>
              <p:cNvSpPr txBox="1"/>
              <p:nvPr/>
            </p:nvSpPr>
            <p:spPr>
              <a:xfrm>
                <a:off x="1130710" y="5659362"/>
                <a:ext cx="265617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ko-KR" i="0" smtClean="0">
                        <a:latin typeface="Cambria Math" panose="02040503050406030204" pitchFamily="18" charset="0"/>
                      </a:rPr>
                      <m:t>Inpu</m:t>
                    </m:r>
                    <m:r>
                      <m:rPr>
                        <m:sty m:val="p"/>
                      </m:rPr>
                      <a:rPr lang="en-US" altLang="ko-KR" i="1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ko-KR" i="1" smtClean="0">
                        <a:latin typeface="Cambria Math" panose="02040503050406030204" pitchFamily="18" charset="0"/>
                      </a:rPr>
                      <m:t>token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m:rPr>
                        <m:sty m:val="p"/>
                      </m:rPr>
                      <a:rPr lang="en-US" altLang="ko-KR" i="1" smtClean="0">
                        <a:latin typeface="Cambria Math" panose="02040503050406030204" pitchFamily="18" charset="0"/>
                      </a:rPr>
                      <m:t>embed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m:rPr>
                        <m:sty m:val="p"/>
                      </m:rPr>
                      <a:rPr lang="en-US" altLang="ko-KR" i="1" smtClean="0">
                        <a:latin typeface="Cambria Math" panose="02040503050406030204" pitchFamily="18" charset="0"/>
                      </a:rPr>
                      <m:t>dim</m:t>
                    </m:r>
                  </m:oMath>
                </a14:m>
                <a:r>
                  <a:rPr lang="en-US" altLang="ko-KR" dirty="0"/>
                  <a:t>)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768477B-82ED-F307-280A-8C591E4EDC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0710" y="5659362"/>
                <a:ext cx="2656176" cy="276999"/>
              </a:xfrm>
              <a:prstGeom prst="rect">
                <a:avLst/>
              </a:prstGeom>
              <a:blipFill>
                <a:blip r:embed="rId3"/>
                <a:stretch>
                  <a:fillRect l="-3899" t="-28261" r="-917" b="-5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F2DB8AC-D094-C07D-F455-7D8EF06916C2}"/>
                  </a:ext>
                </a:extLst>
              </p:cNvPr>
              <p:cNvSpPr txBox="1"/>
              <p:nvPr/>
            </p:nvSpPr>
            <p:spPr>
              <a:xfrm>
                <a:off x="963468" y="2514298"/>
                <a:ext cx="271388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i="1">
                        <a:latin typeface="Cambria Math" panose="02040503050406030204" pitchFamily="18" charset="0"/>
                      </a:rPr>
                      <m:t>Out</m:t>
                    </m:r>
                    <m:r>
                      <m:rPr>
                        <m:nor/>
                      </m:rPr>
                      <a:rPr lang="en-US" altLang="ko-KR" i="0" smtClean="0">
                        <a:latin typeface="Cambria Math" panose="02040503050406030204" pitchFamily="18" charset="0"/>
                      </a:rPr>
                      <m:t>pu</m:t>
                    </m:r>
                    <m:r>
                      <m:rPr>
                        <m:sty m:val="p"/>
                      </m:rPr>
                      <a:rPr lang="en-US" altLang="ko-KR" i="1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ko-KR" i="1" smtClean="0">
                        <a:latin typeface="Cambria Math" panose="02040503050406030204" pitchFamily="18" charset="0"/>
                      </a:rPr>
                      <m:t>token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m:rPr>
                        <m:sty m:val="p"/>
                      </m:rPr>
                      <a:rPr lang="en-US" altLang="ko-KR" i="1" smtClean="0">
                        <a:latin typeface="Cambria Math" panose="02040503050406030204" pitchFamily="18" charset="0"/>
                      </a:rPr>
                      <m:t>embed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m:rPr>
                        <m:sty m:val="p"/>
                      </m:rPr>
                      <a:rPr lang="en-US" altLang="ko-KR" i="1" smtClean="0">
                        <a:latin typeface="Cambria Math" panose="02040503050406030204" pitchFamily="18" charset="0"/>
                      </a:rPr>
                      <m:t>dim</m:t>
                    </m:r>
                  </m:oMath>
                </a14:m>
                <a:r>
                  <a:rPr lang="en-US" altLang="ko-KR" dirty="0"/>
                  <a:t>)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F2DB8AC-D094-C07D-F455-7D8EF06916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468" y="2514298"/>
                <a:ext cx="2713884" cy="276999"/>
              </a:xfrm>
              <a:prstGeom prst="rect">
                <a:avLst/>
              </a:prstGeom>
              <a:blipFill>
                <a:blip r:embed="rId4"/>
                <a:stretch>
                  <a:fillRect l="-2921" t="-28261" r="-4494" b="-5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D851E3C-23B4-2A22-9ED2-3C1906563D03}"/>
                  </a:ext>
                </a:extLst>
              </p:cNvPr>
              <p:cNvSpPr txBox="1"/>
              <p:nvPr/>
            </p:nvSpPr>
            <p:spPr>
              <a:xfrm>
                <a:off x="3889963" y="4984390"/>
                <a:ext cx="360983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i="1" smtClean="0">
                          <a:latin typeface="Cambria Math" panose="02040503050406030204" pitchFamily="18" charset="0"/>
                        </a:rPr>
                        <m:t>FC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1_</m:t>
                      </m:r>
                      <m:r>
                        <m:rPr>
                          <m:sty m:val="p"/>
                        </m:rPr>
                        <a:rPr lang="en-US" altLang="ko-KR" i="1">
                          <a:latin typeface="Cambria Math" panose="02040503050406030204" pitchFamily="18" charset="0"/>
                        </a:rPr>
                        <m:t>Weight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i="0">
                              <a:latin typeface="Cambria Math" panose="02040503050406030204" pitchFamily="18" charset="0"/>
                            </a:rPr>
                            <m:t>embed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i="1">
                              <a:latin typeface="Cambria Math" panose="02040503050406030204" pitchFamily="18" charset="0"/>
                            </a:rPr>
                            <m:t>dim</m:t>
                          </m:r>
                        </m:sub>
                      </m:sSub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i="0">
                              <a:latin typeface="Cambria Math" panose="02040503050406030204" pitchFamily="18" charset="0"/>
                            </a:rPr>
                            <m:t>hidden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dim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D851E3C-23B4-2A22-9ED2-3C1906563D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9963" y="4984390"/>
                <a:ext cx="3609834" cy="276999"/>
              </a:xfrm>
              <a:prstGeom prst="rect">
                <a:avLst/>
              </a:prstGeom>
              <a:blipFill>
                <a:blip r:embed="rId5"/>
                <a:stretch>
                  <a:fillRect l="-676" r="-1689" b="-4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FAE7676-D8B5-F087-E9EF-2B9E93317843}"/>
                  </a:ext>
                </a:extLst>
              </p:cNvPr>
              <p:cNvSpPr txBox="1"/>
              <p:nvPr/>
            </p:nvSpPr>
            <p:spPr>
              <a:xfrm>
                <a:off x="3889963" y="3242373"/>
                <a:ext cx="360983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i="1" smtClean="0">
                          <a:latin typeface="Cambria Math" panose="02040503050406030204" pitchFamily="18" charset="0"/>
                        </a:rPr>
                        <m:t>FC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2_</m:t>
                      </m:r>
                      <m:r>
                        <m:rPr>
                          <m:sty m:val="p"/>
                        </m:rPr>
                        <a:rPr lang="en-US" altLang="ko-KR" i="1">
                          <a:latin typeface="Cambria Math" panose="02040503050406030204" pitchFamily="18" charset="0"/>
                        </a:rPr>
                        <m:t>Weight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hidden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i="1">
                              <a:latin typeface="Cambria Math" panose="02040503050406030204" pitchFamily="18" charset="0"/>
                            </a:rPr>
                            <m:t>dim</m:t>
                          </m:r>
                        </m:sub>
                      </m:sSub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i="1">
                              <a:latin typeface="Cambria Math" panose="02040503050406030204" pitchFamily="18" charset="0"/>
                            </a:rPr>
                            <m:t>embed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dim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FAE7676-D8B5-F087-E9EF-2B9E933178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9963" y="3242373"/>
                <a:ext cx="3609834" cy="276999"/>
              </a:xfrm>
              <a:prstGeom prst="rect">
                <a:avLst/>
              </a:prstGeom>
              <a:blipFill>
                <a:blip r:embed="rId6"/>
                <a:stretch>
                  <a:fillRect l="-676" r="-1689" b="-4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C89ED48-A808-C3BB-4CDE-8B03F2935C73}"/>
                  </a:ext>
                </a:extLst>
              </p:cNvPr>
              <p:cNvSpPr txBox="1"/>
              <p:nvPr/>
            </p:nvSpPr>
            <p:spPr>
              <a:xfrm>
                <a:off x="4043019" y="4084454"/>
                <a:ext cx="248625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i="1" smtClean="0">
                          <a:latin typeface="Cambria Math" panose="02040503050406030204" pitchFamily="18" charset="0"/>
                        </a:rPr>
                        <m:t>GLEU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ko-KR" i="1">
                          <a:latin typeface="Cambria Math" panose="02040503050406030204" pitchFamily="18" charset="0"/>
                        </a:rPr>
                        <m:t>Activation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ko-KR" i="1">
                          <a:latin typeface="Cambria Math" panose="02040503050406030204" pitchFamily="18" charset="0"/>
                        </a:rPr>
                        <m:t>Fuction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C89ED48-A808-C3BB-4CDE-8B03F2935C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3019" y="4084454"/>
                <a:ext cx="2486257" cy="276999"/>
              </a:xfrm>
              <a:prstGeom prst="rect">
                <a:avLst/>
              </a:prstGeom>
              <a:blipFill>
                <a:blip r:embed="rId7"/>
                <a:stretch>
                  <a:fillRect l="-980" r="-1471" b="-1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19597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21A47A-B06F-4004-9148-9FE63A9BD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Fully Connected Layer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E636D51-8B5D-4055-94E1-7C63DAD5195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모든 노드들이 서로 연결된 형태의 기본적인 신경망</a:t>
            </a:r>
            <a:endParaRPr lang="en-US" altLang="ko-KR" dirty="0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FB6BBF15-FB43-463C-9844-E59F618FEBF7}"/>
              </a:ext>
            </a:extLst>
          </p:cNvPr>
          <p:cNvSpPr/>
          <p:nvPr/>
        </p:nvSpPr>
        <p:spPr bwMode="auto">
          <a:xfrm>
            <a:off x="1423286" y="2429864"/>
            <a:ext cx="450000" cy="450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82800" rIns="0" bIns="82800" numCol="1" rtlCol="0" anchor="ctr" anchorCtr="0" compatLnSpc="1">
            <a:prstTxWarp prst="textNoShape">
              <a:avLst/>
            </a:prstTxWarp>
          </a:bodyPr>
          <a:lstStyle/>
          <a:p>
            <a:pPr marL="190500" marR="0" indent="-190500" algn="ctr" defTabSz="282575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KoPubWorld돋움체 Medium" panose="00000600000000000000" pitchFamily="2" charset="-127"/>
              <a:ea typeface="KoPubWorld돋움체 Medium" panose="00000600000000000000" pitchFamily="2" charset="-127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21515228-E990-44BF-9D7C-E0F4844A23E6}"/>
              </a:ext>
            </a:extLst>
          </p:cNvPr>
          <p:cNvSpPr/>
          <p:nvPr/>
        </p:nvSpPr>
        <p:spPr bwMode="auto">
          <a:xfrm>
            <a:off x="1423286" y="3054230"/>
            <a:ext cx="450000" cy="450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82800" rIns="0" bIns="82800" numCol="1" rtlCol="0" anchor="ctr" anchorCtr="0" compatLnSpc="1">
            <a:prstTxWarp prst="textNoShape">
              <a:avLst/>
            </a:prstTxWarp>
          </a:bodyPr>
          <a:lstStyle/>
          <a:p>
            <a:pPr marL="190500" marR="0" indent="-190500" algn="ctr" defTabSz="282575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KoPubWorld돋움체 Medium" panose="00000600000000000000" pitchFamily="2" charset="-127"/>
              <a:ea typeface="KoPubWorld돋움체 Medium" panose="00000600000000000000" pitchFamily="2" charset="-127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B180A113-D6F5-4D39-AFC4-5628375C75BA}"/>
              </a:ext>
            </a:extLst>
          </p:cNvPr>
          <p:cNvSpPr/>
          <p:nvPr/>
        </p:nvSpPr>
        <p:spPr bwMode="auto">
          <a:xfrm>
            <a:off x="1423286" y="3677001"/>
            <a:ext cx="450000" cy="450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82800" rIns="0" bIns="82800" numCol="1" rtlCol="0" anchor="ctr" anchorCtr="0" compatLnSpc="1">
            <a:prstTxWarp prst="textNoShape">
              <a:avLst/>
            </a:prstTxWarp>
          </a:bodyPr>
          <a:lstStyle/>
          <a:p>
            <a:pPr marL="190500" marR="0" indent="-190500" algn="ctr" defTabSz="282575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KoPubWorld돋움체 Medium" panose="00000600000000000000" pitchFamily="2" charset="-127"/>
              <a:ea typeface="KoPubWorld돋움체 Medium" panose="00000600000000000000" pitchFamily="2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5A396957-2358-4125-B0D0-68858E567DAE}"/>
              </a:ext>
            </a:extLst>
          </p:cNvPr>
          <p:cNvSpPr/>
          <p:nvPr/>
        </p:nvSpPr>
        <p:spPr bwMode="auto">
          <a:xfrm>
            <a:off x="1423286" y="4299772"/>
            <a:ext cx="450000" cy="450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82800" rIns="0" bIns="82800" numCol="1" rtlCol="0" anchor="ctr" anchorCtr="0" compatLnSpc="1">
            <a:prstTxWarp prst="textNoShape">
              <a:avLst/>
            </a:prstTxWarp>
          </a:bodyPr>
          <a:lstStyle/>
          <a:p>
            <a:pPr marL="190500" marR="0" indent="-190500" algn="ctr" defTabSz="282575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KoPubWorld돋움체 Medium" panose="00000600000000000000" pitchFamily="2" charset="-127"/>
              <a:ea typeface="KoPubWorld돋움체 Medium" panose="00000600000000000000" pitchFamily="2" charset="-127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89D69C3A-5A0F-48E3-8A87-5335EEE88608}"/>
              </a:ext>
            </a:extLst>
          </p:cNvPr>
          <p:cNvSpPr/>
          <p:nvPr/>
        </p:nvSpPr>
        <p:spPr bwMode="auto">
          <a:xfrm>
            <a:off x="1423286" y="4922543"/>
            <a:ext cx="450000" cy="450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82800" rIns="0" bIns="82800" numCol="1" rtlCol="0" anchor="ctr" anchorCtr="0" compatLnSpc="1">
            <a:prstTxWarp prst="textNoShape">
              <a:avLst/>
            </a:prstTxWarp>
          </a:bodyPr>
          <a:lstStyle/>
          <a:p>
            <a:pPr marL="190500" marR="0" indent="-190500" algn="ctr" defTabSz="282575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KoPubWorld돋움체 Medium" panose="00000600000000000000" pitchFamily="2" charset="-127"/>
              <a:ea typeface="KoPubWorld돋움체 Medium" panose="00000600000000000000" pitchFamily="2" charset="-127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38BB63E6-6C75-4879-A9D7-2201F1DCA60B}"/>
              </a:ext>
            </a:extLst>
          </p:cNvPr>
          <p:cNvSpPr/>
          <p:nvPr/>
        </p:nvSpPr>
        <p:spPr bwMode="auto">
          <a:xfrm>
            <a:off x="3059832" y="2429864"/>
            <a:ext cx="450000" cy="450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28575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82800" rIns="0" bIns="82800" numCol="1" rtlCol="0" anchor="ctr" anchorCtr="0" compatLnSpc="1">
            <a:prstTxWarp prst="textNoShape">
              <a:avLst/>
            </a:prstTxWarp>
          </a:bodyPr>
          <a:lstStyle/>
          <a:p>
            <a:pPr marL="190500" marR="0" indent="-190500" algn="l" defTabSz="282575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KoPubWorld돋움체 Medium" panose="00000600000000000000" pitchFamily="2" charset="-127"/>
              <a:ea typeface="KoPubWorld돋움체 Medium" panose="00000600000000000000" pitchFamily="2" charset="-127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CA1540E4-53A8-45CC-B358-BD349BAD26EE}"/>
              </a:ext>
            </a:extLst>
          </p:cNvPr>
          <p:cNvSpPr/>
          <p:nvPr/>
        </p:nvSpPr>
        <p:spPr bwMode="auto">
          <a:xfrm>
            <a:off x="3059832" y="3054230"/>
            <a:ext cx="450000" cy="45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82800" rIns="0" bIns="82800" numCol="1" rtlCol="0" anchor="ctr" anchorCtr="0" compatLnSpc="1">
            <a:prstTxWarp prst="textNoShape">
              <a:avLst/>
            </a:prstTxWarp>
          </a:bodyPr>
          <a:lstStyle/>
          <a:p>
            <a:pPr marL="190500" marR="0" indent="-190500" algn="l" defTabSz="282575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KoPubWorld돋움체 Medium" panose="00000600000000000000" pitchFamily="2" charset="-127"/>
              <a:ea typeface="KoPubWorld돋움체 Medium" panose="00000600000000000000" pitchFamily="2" charset="-127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293D9ACB-44F9-4570-ADF7-90DCE4F33C24}"/>
              </a:ext>
            </a:extLst>
          </p:cNvPr>
          <p:cNvSpPr/>
          <p:nvPr/>
        </p:nvSpPr>
        <p:spPr bwMode="auto">
          <a:xfrm>
            <a:off x="3059832" y="3677001"/>
            <a:ext cx="450000" cy="45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82800" rIns="0" bIns="82800" numCol="1" rtlCol="0" anchor="ctr" anchorCtr="0" compatLnSpc="1">
            <a:prstTxWarp prst="textNoShape">
              <a:avLst/>
            </a:prstTxWarp>
          </a:bodyPr>
          <a:lstStyle/>
          <a:p>
            <a:pPr marL="190500" marR="0" indent="-190500" algn="l" defTabSz="282575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KoPubWorld돋움체 Medium" panose="00000600000000000000" pitchFamily="2" charset="-127"/>
              <a:ea typeface="KoPubWorld돋움체 Medium" panose="00000600000000000000" pitchFamily="2" charset="-127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F7E2079B-0FD3-4AE7-934E-E0D644EB2AA4}"/>
              </a:ext>
            </a:extLst>
          </p:cNvPr>
          <p:cNvSpPr/>
          <p:nvPr/>
        </p:nvSpPr>
        <p:spPr bwMode="auto">
          <a:xfrm>
            <a:off x="3059832" y="4299772"/>
            <a:ext cx="450000" cy="45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82800" rIns="0" bIns="82800" numCol="1" rtlCol="0" anchor="ctr" anchorCtr="0" compatLnSpc="1">
            <a:prstTxWarp prst="textNoShape">
              <a:avLst/>
            </a:prstTxWarp>
          </a:bodyPr>
          <a:lstStyle/>
          <a:p>
            <a:pPr marL="190500" marR="0" indent="-190500" algn="l" defTabSz="282575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KoPubWorld돋움체 Medium" panose="00000600000000000000" pitchFamily="2" charset="-127"/>
              <a:ea typeface="KoPubWorld돋움체 Medium" panose="00000600000000000000" pitchFamily="2" charset="-127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BFDC59A9-4790-4820-984B-9BF2A056DBB9}"/>
              </a:ext>
            </a:extLst>
          </p:cNvPr>
          <p:cNvSpPr/>
          <p:nvPr/>
        </p:nvSpPr>
        <p:spPr bwMode="auto">
          <a:xfrm>
            <a:off x="3059832" y="4922543"/>
            <a:ext cx="450000" cy="45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82800" rIns="0" bIns="82800" numCol="1" rtlCol="0" anchor="ctr" anchorCtr="0" compatLnSpc="1">
            <a:prstTxWarp prst="textNoShape">
              <a:avLst/>
            </a:prstTxWarp>
          </a:bodyPr>
          <a:lstStyle/>
          <a:p>
            <a:pPr marL="190500" marR="0" indent="-190500" algn="l" defTabSz="282575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KoPubWorld돋움체 Medium" panose="00000600000000000000" pitchFamily="2" charset="-127"/>
              <a:ea typeface="KoPubWorld돋움체 Medium" panose="00000600000000000000" pitchFamily="2" charset="-127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5C60755F-026B-4A3C-A3DA-C1A2967C627F}"/>
              </a:ext>
            </a:extLst>
          </p:cNvPr>
          <p:cNvSpPr/>
          <p:nvPr/>
        </p:nvSpPr>
        <p:spPr bwMode="auto">
          <a:xfrm>
            <a:off x="4696378" y="3204000"/>
            <a:ext cx="450000" cy="45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82800" rIns="0" bIns="82800" numCol="1" rtlCol="0" anchor="ctr" anchorCtr="0" compatLnSpc="1">
            <a:prstTxWarp prst="textNoShape">
              <a:avLst/>
            </a:prstTxWarp>
          </a:bodyPr>
          <a:lstStyle/>
          <a:p>
            <a:pPr marL="190500" marR="0" indent="-190500" algn="l" defTabSz="282575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KoPubWorld돋움체 Medium" panose="00000600000000000000" pitchFamily="2" charset="-127"/>
              <a:ea typeface="KoPubWorld돋움체 Medium" panose="00000600000000000000" pitchFamily="2" charset="-127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6C89FD9D-730A-4EEE-8873-C49A003E19B1}"/>
              </a:ext>
            </a:extLst>
          </p:cNvPr>
          <p:cNvSpPr/>
          <p:nvPr/>
        </p:nvSpPr>
        <p:spPr bwMode="auto">
          <a:xfrm>
            <a:off x="4696378" y="4158056"/>
            <a:ext cx="450000" cy="45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82800" rIns="0" bIns="82800" numCol="1" rtlCol="0" anchor="ctr" anchorCtr="0" compatLnSpc="1">
            <a:prstTxWarp prst="textNoShape">
              <a:avLst/>
            </a:prstTxWarp>
          </a:bodyPr>
          <a:lstStyle/>
          <a:p>
            <a:pPr marL="190500" marR="0" indent="-190500" algn="l" defTabSz="282575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KoPubWorld돋움체 Medium" panose="00000600000000000000" pitchFamily="2" charset="-127"/>
              <a:ea typeface="KoPubWorld돋움체 Medium" panose="00000600000000000000" pitchFamily="2" charset="-127"/>
            </a:endParaRP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07BA457F-F5B8-46FA-B7BE-F5F0D69BF8CA}"/>
              </a:ext>
            </a:extLst>
          </p:cNvPr>
          <p:cNvCxnSpPr>
            <a:cxnSpLocks/>
            <a:stCxn id="4" idx="6"/>
            <a:endCxn id="10" idx="2"/>
          </p:cNvCxnSpPr>
          <p:nvPr/>
        </p:nvCxnSpPr>
        <p:spPr bwMode="auto">
          <a:xfrm>
            <a:off x="1873286" y="2654864"/>
            <a:ext cx="1186546" cy="624366"/>
          </a:xfrm>
          <a:prstGeom prst="line">
            <a:avLst/>
          </a:prstGeom>
          <a:ln w="31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C517ABE8-E089-4E1F-AAEE-63572A64249E}"/>
              </a:ext>
            </a:extLst>
          </p:cNvPr>
          <p:cNvCxnSpPr>
            <a:cxnSpLocks/>
            <a:stCxn id="4" idx="6"/>
            <a:endCxn id="11" idx="2"/>
          </p:cNvCxnSpPr>
          <p:nvPr/>
        </p:nvCxnSpPr>
        <p:spPr bwMode="auto">
          <a:xfrm>
            <a:off x="1873286" y="2654864"/>
            <a:ext cx="1186546" cy="1247137"/>
          </a:xfrm>
          <a:prstGeom prst="line">
            <a:avLst/>
          </a:prstGeom>
          <a:ln w="31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9BA401F9-97AB-4D3B-9AEA-FA8B101EE0B4}"/>
              </a:ext>
            </a:extLst>
          </p:cNvPr>
          <p:cNvCxnSpPr>
            <a:cxnSpLocks/>
            <a:stCxn id="4" idx="6"/>
            <a:endCxn id="12" idx="2"/>
          </p:cNvCxnSpPr>
          <p:nvPr/>
        </p:nvCxnSpPr>
        <p:spPr bwMode="auto">
          <a:xfrm>
            <a:off x="1873286" y="2654864"/>
            <a:ext cx="1186546" cy="1869908"/>
          </a:xfrm>
          <a:prstGeom prst="line">
            <a:avLst/>
          </a:prstGeom>
          <a:ln w="31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F35F717B-738B-46A3-AE36-50B53AD9B6F3}"/>
              </a:ext>
            </a:extLst>
          </p:cNvPr>
          <p:cNvCxnSpPr>
            <a:cxnSpLocks/>
            <a:stCxn id="4" idx="6"/>
            <a:endCxn id="13" idx="2"/>
          </p:cNvCxnSpPr>
          <p:nvPr/>
        </p:nvCxnSpPr>
        <p:spPr bwMode="auto">
          <a:xfrm>
            <a:off x="1873286" y="2654864"/>
            <a:ext cx="1186546" cy="2492679"/>
          </a:xfrm>
          <a:prstGeom prst="line">
            <a:avLst/>
          </a:prstGeom>
          <a:ln w="31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51E23E9E-B87A-4E69-89F3-9F983D70DDBE}"/>
              </a:ext>
            </a:extLst>
          </p:cNvPr>
          <p:cNvCxnSpPr>
            <a:cxnSpLocks/>
            <a:stCxn id="5" idx="6"/>
            <a:endCxn id="10" idx="2"/>
          </p:cNvCxnSpPr>
          <p:nvPr/>
        </p:nvCxnSpPr>
        <p:spPr bwMode="auto">
          <a:xfrm>
            <a:off x="1873286" y="3279230"/>
            <a:ext cx="1186546" cy="0"/>
          </a:xfrm>
          <a:prstGeom prst="line">
            <a:avLst/>
          </a:prstGeom>
          <a:ln w="31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7D8FDA9C-BAC4-4E1A-BA80-0D30DEF2590D}"/>
              </a:ext>
            </a:extLst>
          </p:cNvPr>
          <p:cNvCxnSpPr>
            <a:cxnSpLocks/>
            <a:stCxn id="5" idx="6"/>
            <a:endCxn id="11" idx="2"/>
          </p:cNvCxnSpPr>
          <p:nvPr/>
        </p:nvCxnSpPr>
        <p:spPr bwMode="auto">
          <a:xfrm>
            <a:off x="1873286" y="3279230"/>
            <a:ext cx="1186546" cy="622771"/>
          </a:xfrm>
          <a:prstGeom prst="line">
            <a:avLst/>
          </a:prstGeom>
          <a:ln w="31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877072DA-FB23-4E65-BE11-3041AF911CFF}"/>
              </a:ext>
            </a:extLst>
          </p:cNvPr>
          <p:cNvCxnSpPr>
            <a:cxnSpLocks/>
            <a:stCxn id="5" idx="6"/>
            <a:endCxn id="12" idx="2"/>
          </p:cNvCxnSpPr>
          <p:nvPr/>
        </p:nvCxnSpPr>
        <p:spPr bwMode="auto">
          <a:xfrm>
            <a:off x="1873286" y="3279230"/>
            <a:ext cx="1186546" cy="1245542"/>
          </a:xfrm>
          <a:prstGeom prst="line">
            <a:avLst/>
          </a:prstGeom>
          <a:ln w="31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683E438F-51A7-4A9E-BA16-17834DDAAE48}"/>
              </a:ext>
            </a:extLst>
          </p:cNvPr>
          <p:cNvCxnSpPr>
            <a:cxnSpLocks/>
            <a:stCxn id="5" idx="6"/>
            <a:endCxn id="13" idx="2"/>
          </p:cNvCxnSpPr>
          <p:nvPr/>
        </p:nvCxnSpPr>
        <p:spPr bwMode="auto">
          <a:xfrm>
            <a:off x="1873286" y="3279230"/>
            <a:ext cx="1186546" cy="1868313"/>
          </a:xfrm>
          <a:prstGeom prst="line">
            <a:avLst/>
          </a:prstGeom>
          <a:ln w="31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79FD3D6F-385E-409D-B39A-E60AD997D450}"/>
              </a:ext>
            </a:extLst>
          </p:cNvPr>
          <p:cNvCxnSpPr>
            <a:cxnSpLocks/>
            <a:stCxn id="6" idx="6"/>
            <a:endCxn id="10" idx="2"/>
          </p:cNvCxnSpPr>
          <p:nvPr/>
        </p:nvCxnSpPr>
        <p:spPr bwMode="auto">
          <a:xfrm flipV="1">
            <a:off x="1873286" y="3279230"/>
            <a:ext cx="1186546" cy="622771"/>
          </a:xfrm>
          <a:prstGeom prst="line">
            <a:avLst/>
          </a:prstGeom>
          <a:ln w="31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C192C544-E2D1-419D-9AF6-3082AAD93E62}"/>
              </a:ext>
            </a:extLst>
          </p:cNvPr>
          <p:cNvCxnSpPr>
            <a:cxnSpLocks/>
            <a:stCxn id="6" idx="6"/>
            <a:endCxn id="11" idx="2"/>
          </p:cNvCxnSpPr>
          <p:nvPr/>
        </p:nvCxnSpPr>
        <p:spPr bwMode="auto">
          <a:xfrm>
            <a:off x="1873286" y="3902001"/>
            <a:ext cx="1186546" cy="0"/>
          </a:xfrm>
          <a:prstGeom prst="line">
            <a:avLst/>
          </a:prstGeom>
          <a:ln w="31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C356D417-D275-4520-BD40-AF6440ACFA19}"/>
              </a:ext>
            </a:extLst>
          </p:cNvPr>
          <p:cNvCxnSpPr>
            <a:cxnSpLocks/>
            <a:stCxn id="6" idx="6"/>
            <a:endCxn id="12" idx="2"/>
          </p:cNvCxnSpPr>
          <p:nvPr/>
        </p:nvCxnSpPr>
        <p:spPr bwMode="auto">
          <a:xfrm>
            <a:off x="1873286" y="3902001"/>
            <a:ext cx="1186546" cy="622771"/>
          </a:xfrm>
          <a:prstGeom prst="line">
            <a:avLst/>
          </a:prstGeom>
          <a:ln w="31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86699CCE-959D-48E3-9C71-B6A6C4A64F17}"/>
              </a:ext>
            </a:extLst>
          </p:cNvPr>
          <p:cNvCxnSpPr>
            <a:cxnSpLocks/>
            <a:stCxn id="6" idx="6"/>
            <a:endCxn id="13" idx="2"/>
          </p:cNvCxnSpPr>
          <p:nvPr/>
        </p:nvCxnSpPr>
        <p:spPr bwMode="auto">
          <a:xfrm>
            <a:off x="1873286" y="3902001"/>
            <a:ext cx="1186546" cy="1245542"/>
          </a:xfrm>
          <a:prstGeom prst="line">
            <a:avLst/>
          </a:prstGeom>
          <a:ln w="31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B7FF724A-FB7D-433A-A0B5-4F67653B8B3C}"/>
              </a:ext>
            </a:extLst>
          </p:cNvPr>
          <p:cNvCxnSpPr>
            <a:cxnSpLocks/>
            <a:stCxn id="7" idx="6"/>
            <a:endCxn id="10" idx="2"/>
          </p:cNvCxnSpPr>
          <p:nvPr/>
        </p:nvCxnSpPr>
        <p:spPr bwMode="auto">
          <a:xfrm flipV="1">
            <a:off x="1873286" y="3279230"/>
            <a:ext cx="1186546" cy="1245542"/>
          </a:xfrm>
          <a:prstGeom prst="line">
            <a:avLst/>
          </a:prstGeom>
          <a:ln w="31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A1787748-8331-4DE1-B2C6-81BAA51ACC12}"/>
              </a:ext>
            </a:extLst>
          </p:cNvPr>
          <p:cNvCxnSpPr>
            <a:cxnSpLocks/>
            <a:stCxn id="7" idx="6"/>
            <a:endCxn id="11" idx="2"/>
          </p:cNvCxnSpPr>
          <p:nvPr/>
        </p:nvCxnSpPr>
        <p:spPr bwMode="auto">
          <a:xfrm flipV="1">
            <a:off x="1873286" y="3902001"/>
            <a:ext cx="1186546" cy="622771"/>
          </a:xfrm>
          <a:prstGeom prst="line">
            <a:avLst/>
          </a:prstGeom>
          <a:ln w="31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D20ED9E3-F14C-46CD-A618-E68A9338D190}"/>
              </a:ext>
            </a:extLst>
          </p:cNvPr>
          <p:cNvCxnSpPr>
            <a:cxnSpLocks/>
            <a:stCxn id="7" idx="6"/>
            <a:endCxn id="12" idx="2"/>
          </p:cNvCxnSpPr>
          <p:nvPr/>
        </p:nvCxnSpPr>
        <p:spPr bwMode="auto">
          <a:xfrm>
            <a:off x="1873286" y="4524772"/>
            <a:ext cx="1186546" cy="0"/>
          </a:xfrm>
          <a:prstGeom prst="line">
            <a:avLst/>
          </a:prstGeom>
          <a:ln w="31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25C44E2E-9A55-4295-8ECD-6C383AE24070}"/>
              </a:ext>
            </a:extLst>
          </p:cNvPr>
          <p:cNvCxnSpPr>
            <a:cxnSpLocks/>
            <a:stCxn id="7" idx="6"/>
            <a:endCxn id="13" idx="2"/>
          </p:cNvCxnSpPr>
          <p:nvPr/>
        </p:nvCxnSpPr>
        <p:spPr bwMode="auto">
          <a:xfrm>
            <a:off x="1873286" y="4524772"/>
            <a:ext cx="1186546" cy="622771"/>
          </a:xfrm>
          <a:prstGeom prst="line">
            <a:avLst/>
          </a:prstGeom>
          <a:ln w="31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4015CA0C-F3D4-4387-B3E6-40727941B67F}"/>
              </a:ext>
            </a:extLst>
          </p:cNvPr>
          <p:cNvCxnSpPr>
            <a:cxnSpLocks/>
            <a:stCxn id="8" idx="6"/>
            <a:endCxn id="10" idx="2"/>
          </p:cNvCxnSpPr>
          <p:nvPr/>
        </p:nvCxnSpPr>
        <p:spPr bwMode="auto">
          <a:xfrm flipV="1">
            <a:off x="1873286" y="3279230"/>
            <a:ext cx="1186546" cy="1868313"/>
          </a:xfrm>
          <a:prstGeom prst="line">
            <a:avLst/>
          </a:prstGeom>
          <a:ln w="31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910297A9-926B-4495-B061-6932F8C4AADB}"/>
              </a:ext>
            </a:extLst>
          </p:cNvPr>
          <p:cNvCxnSpPr>
            <a:cxnSpLocks/>
            <a:stCxn id="8" idx="6"/>
            <a:endCxn id="11" idx="2"/>
          </p:cNvCxnSpPr>
          <p:nvPr/>
        </p:nvCxnSpPr>
        <p:spPr bwMode="auto">
          <a:xfrm flipV="1">
            <a:off x="1873286" y="3902001"/>
            <a:ext cx="1186546" cy="1245542"/>
          </a:xfrm>
          <a:prstGeom prst="line">
            <a:avLst/>
          </a:prstGeom>
          <a:ln w="31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48EB0ADA-2C85-4F38-B826-9F3717EEBDBC}"/>
              </a:ext>
            </a:extLst>
          </p:cNvPr>
          <p:cNvCxnSpPr>
            <a:cxnSpLocks/>
            <a:stCxn id="8" idx="6"/>
            <a:endCxn id="12" idx="2"/>
          </p:cNvCxnSpPr>
          <p:nvPr/>
        </p:nvCxnSpPr>
        <p:spPr bwMode="auto">
          <a:xfrm flipV="1">
            <a:off x="1873286" y="4524772"/>
            <a:ext cx="1186546" cy="622771"/>
          </a:xfrm>
          <a:prstGeom prst="line">
            <a:avLst/>
          </a:prstGeom>
          <a:ln w="31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87F0AABA-89B5-421C-B5D0-EFE6A1F352A0}"/>
              </a:ext>
            </a:extLst>
          </p:cNvPr>
          <p:cNvCxnSpPr>
            <a:cxnSpLocks/>
            <a:stCxn id="8" idx="6"/>
            <a:endCxn id="13" idx="2"/>
          </p:cNvCxnSpPr>
          <p:nvPr/>
        </p:nvCxnSpPr>
        <p:spPr bwMode="auto">
          <a:xfrm>
            <a:off x="1873286" y="5147543"/>
            <a:ext cx="1186546" cy="0"/>
          </a:xfrm>
          <a:prstGeom prst="line">
            <a:avLst/>
          </a:prstGeom>
          <a:ln w="31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D5425833-8D51-474C-98B3-ECA3C90ABB4A}"/>
              </a:ext>
            </a:extLst>
          </p:cNvPr>
          <p:cNvCxnSpPr>
            <a:stCxn id="4" idx="6"/>
            <a:endCxn id="9" idx="2"/>
          </p:cNvCxnSpPr>
          <p:nvPr/>
        </p:nvCxnSpPr>
        <p:spPr bwMode="auto">
          <a:xfrm>
            <a:off x="1873286" y="2654864"/>
            <a:ext cx="1186546" cy="0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38E09969-1CBB-4C7B-973A-8283C0311ACC}"/>
              </a:ext>
            </a:extLst>
          </p:cNvPr>
          <p:cNvCxnSpPr>
            <a:cxnSpLocks/>
            <a:stCxn id="5" idx="6"/>
            <a:endCxn id="9" idx="2"/>
          </p:cNvCxnSpPr>
          <p:nvPr/>
        </p:nvCxnSpPr>
        <p:spPr bwMode="auto">
          <a:xfrm flipV="1">
            <a:off x="1873286" y="2654864"/>
            <a:ext cx="1186546" cy="624366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D5B1F49F-A7DE-4D4D-AB94-D2FB1F7F623C}"/>
              </a:ext>
            </a:extLst>
          </p:cNvPr>
          <p:cNvCxnSpPr>
            <a:cxnSpLocks/>
            <a:stCxn id="6" idx="6"/>
            <a:endCxn id="9" idx="2"/>
          </p:cNvCxnSpPr>
          <p:nvPr/>
        </p:nvCxnSpPr>
        <p:spPr bwMode="auto">
          <a:xfrm flipV="1">
            <a:off x="1873286" y="2654864"/>
            <a:ext cx="1186546" cy="1247137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B0675362-B3FB-456E-91FE-F76BF62B4986}"/>
              </a:ext>
            </a:extLst>
          </p:cNvPr>
          <p:cNvCxnSpPr>
            <a:cxnSpLocks/>
            <a:stCxn id="7" idx="6"/>
            <a:endCxn id="9" idx="2"/>
          </p:cNvCxnSpPr>
          <p:nvPr/>
        </p:nvCxnSpPr>
        <p:spPr bwMode="auto">
          <a:xfrm flipV="1">
            <a:off x="1873286" y="2654864"/>
            <a:ext cx="1186546" cy="1869908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E81F1399-2AD7-47C0-A386-6838F85B9C32}"/>
              </a:ext>
            </a:extLst>
          </p:cNvPr>
          <p:cNvCxnSpPr>
            <a:cxnSpLocks/>
            <a:stCxn id="8" idx="6"/>
            <a:endCxn id="9" idx="2"/>
          </p:cNvCxnSpPr>
          <p:nvPr/>
        </p:nvCxnSpPr>
        <p:spPr bwMode="auto">
          <a:xfrm flipV="1">
            <a:off x="1873286" y="2654864"/>
            <a:ext cx="1186546" cy="2492679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8B3D454B-4181-45FF-B245-5905AFCADBDC}"/>
              </a:ext>
            </a:extLst>
          </p:cNvPr>
          <p:cNvCxnSpPr>
            <a:cxnSpLocks/>
            <a:stCxn id="9" idx="6"/>
            <a:endCxn id="14" idx="2"/>
          </p:cNvCxnSpPr>
          <p:nvPr/>
        </p:nvCxnSpPr>
        <p:spPr bwMode="auto">
          <a:xfrm>
            <a:off x="3509832" y="2654864"/>
            <a:ext cx="1186546" cy="774136"/>
          </a:xfrm>
          <a:prstGeom prst="line">
            <a:avLst/>
          </a:prstGeom>
          <a:ln w="31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7CC00EB1-2462-46DD-A5D5-40211199B883}"/>
              </a:ext>
            </a:extLst>
          </p:cNvPr>
          <p:cNvCxnSpPr>
            <a:cxnSpLocks/>
            <a:stCxn id="10" idx="6"/>
            <a:endCxn id="14" idx="2"/>
          </p:cNvCxnSpPr>
          <p:nvPr/>
        </p:nvCxnSpPr>
        <p:spPr bwMode="auto">
          <a:xfrm>
            <a:off x="3509832" y="3279230"/>
            <a:ext cx="1186546" cy="149770"/>
          </a:xfrm>
          <a:prstGeom prst="line">
            <a:avLst/>
          </a:prstGeom>
          <a:ln w="31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CDBE0E90-8E7E-4083-A6EA-EC69578718BB}"/>
              </a:ext>
            </a:extLst>
          </p:cNvPr>
          <p:cNvCxnSpPr>
            <a:cxnSpLocks/>
            <a:stCxn id="11" idx="6"/>
            <a:endCxn id="14" idx="2"/>
          </p:cNvCxnSpPr>
          <p:nvPr/>
        </p:nvCxnSpPr>
        <p:spPr bwMode="auto">
          <a:xfrm flipV="1">
            <a:off x="3509832" y="3429000"/>
            <a:ext cx="1186546" cy="473001"/>
          </a:xfrm>
          <a:prstGeom prst="line">
            <a:avLst/>
          </a:prstGeom>
          <a:ln w="31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F213EB03-2447-4FFF-976F-5D6902A66639}"/>
              </a:ext>
            </a:extLst>
          </p:cNvPr>
          <p:cNvCxnSpPr>
            <a:cxnSpLocks/>
            <a:stCxn id="12" idx="6"/>
            <a:endCxn id="14" idx="2"/>
          </p:cNvCxnSpPr>
          <p:nvPr/>
        </p:nvCxnSpPr>
        <p:spPr bwMode="auto">
          <a:xfrm flipV="1">
            <a:off x="3509832" y="3429000"/>
            <a:ext cx="1186546" cy="1095772"/>
          </a:xfrm>
          <a:prstGeom prst="line">
            <a:avLst/>
          </a:prstGeom>
          <a:ln w="31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F731A1C6-0847-47E2-B715-538C09727872}"/>
              </a:ext>
            </a:extLst>
          </p:cNvPr>
          <p:cNvCxnSpPr>
            <a:cxnSpLocks/>
            <a:stCxn id="13" idx="6"/>
            <a:endCxn id="14" idx="2"/>
          </p:cNvCxnSpPr>
          <p:nvPr/>
        </p:nvCxnSpPr>
        <p:spPr bwMode="auto">
          <a:xfrm flipV="1">
            <a:off x="3509832" y="3429000"/>
            <a:ext cx="1186546" cy="1718543"/>
          </a:xfrm>
          <a:prstGeom prst="line">
            <a:avLst/>
          </a:prstGeom>
          <a:ln w="31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0C11524E-175B-478F-A465-940944B71A57}"/>
              </a:ext>
            </a:extLst>
          </p:cNvPr>
          <p:cNvCxnSpPr>
            <a:cxnSpLocks/>
            <a:stCxn id="9" idx="6"/>
            <a:endCxn id="15" idx="2"/>
          </p:cNvCxnSpPr>
          <p:nvPr/>
        </p:nvCxnSpPr>
        <p:spPr bwMode="auto">
          <a:xfrm>
            <a:off x="3509832" y="2654864"/>
            <a:ext cx="1186546" cy="1728192"/>
          </a:xfrm>
          <a:prstGeom prst="line">
            <a:avLst/>
          </a:prstGeom>
          <a:ln w="31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933361E1-5F9A-4568-AC38-1B10CCEE1081}"/>
              </a:ext>
            </a:extLst>
          </p:cNvPr>
          <p:cNvCxnSpPr>
            <a:cxnSpLocks/>
            <a:stCxn id="10" idx="6"/>
            <a:endCxn id="15" idx="2"/>
          </p:cNvCxnSpPr>
          <p:nvPr/>
        </p:nvCxnSpPr>
        <p:spPr bwMode="auto">
          <a:xfrm>
            <a:off x="3509832" y="3279230"/>
            <a:ext cx="1186546" cy="1103826"/>
          </a:xfrm>
          <a:prstGeom prst="line">
            <a:avLst/>
          </a:prstGeom>
          <a:ln w="31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413E6DCA-50DD-490D-B190-ACE905EF1F97}"/>
              </a:ext>
            </a:extLst>
          </p:cNvPr>
          <p:cNvCxnSpPr>
            <a:cxnSpLocks/>
            <a:stCxn id="11" idx="6"/>
            <a:endCxn id="15" idx="2"/>
          </p:cNvCxnSpPr>
          <p:nvPr/>
        </p:nvCxnSpPr>
        <p:spPr bwMode="auto">
          <a:xfrm>
            <a:off x="3509832" y="3902001"/>
            <a:ext cx="1186546" cy="481055"/>
          </a:xfrm>
          <a:prstGeom prst="line">
            <a:avLst/>
          </a:prstGeom>
          <a:ln w="31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3E1F91AF-881E-4AE3-98F3-ADCE20909E5E}"/>
              </a:ext>
            </a:extLst>
          </p:cNvPr>
          <p:cNvCxnSpPr>
            <a:cxnSpLocks/>
            <a:stCxn id="12" idx="6"/>
            <a:endCxn id="15" idx="2"/>
          </p:cNvCxnSpPr>
          <p:nvPr/>
        </p:nvCxnSpPr>
        <p:spPr bwMode="auto">
          <a:xfrm flipV="1">
            <a:off x="3509832" y="4383056"/>
            <a:ext cx="1186546" cy="141716"/>
          </a:xfrm>
          <a:prstGeom prst="line">
            <a:avLst/>
          </a:prstGeom>
          <a:ln w="31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0775D190-E26C-4D24-A9ED-A4F85164BC90}"/>
              </a:ext>
            </a:extLst>
          </p:cNvPr>
          <p:cNvCxnSpPr>
            <a:cxnSpLocks/>
            <a:stCxn id="13" idx="6"/>
            <a:endCxn id="15" idx="2"/>
          </p:cNvCxnSpPr>
          <p:nvPr/>
        </p:nvCxnSpPr>
        <p:spPr bwMode="auto">
          <a:xfrm flipV="1">
            <a:off x="3509832" y="4383056"/>
            <a:ext cx="1186546" cy="764487"/>
          </a:xfrm>
          <a:prstGeom prst="line">
            <a:avLst/>
          </a:prstGeom>
          <a:ln w="31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3" name="그림 52">
            <a:extLst>
              <a:ext uri="{FF2B5EF4-FFF2-40B4-BE49-F238E27FC236}">
                <a16:creationId xmlns:a16="http://schemas.microsoft.com/office/drawing/2014/main" id="{35C8715E-EE75-4F28-B4D1-FC9DC1498F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5655" y="4058793"/>
            <a:ext cx="4230991" cy="61574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7F50A2E8-5DEE-2524-8BB6-583DFCDB9C4F}"/>
                  </a:ext>
                </a:extLst>
              </p:cNvPr>
              <p:cNvSpPr txBox="1"/>
              <p:nvPr/>
            </p:nvSpPr>
            <p:spPr>
              <a:xfrm>
                <a:off x="1317650" y="2011095"/>
                <a:ext cx="66127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𝑛𝑝𝑢𝑡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7F50A2E8-5DEE-2524-8BB6-583DFCDB9C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7650" y="2011095"/>
                <a:ext cx="661271" cy="276999"/>
              </a:xfrm>
              <a:prstGeom prst="rect">
                <a:avLst/>
              </a:prstGeom>
              <a:blipFill>
                <a:blip r:embed="rId3"/>
                <a:stretch>
                  <a:fillRect l="-5505" r="-8257" b="-355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789E3DD8-7E47-521C-1D08-2EA6B9068FF6}"/>
                  </a:ext>
                </a:extLst>
              </p:cNvPr>
              <p:cNvSpPr txBox="1"/>
              <p:nvPr/>
            </p:nvSpPr>
            <p:spPr>
              <a:xfrm>
                <a:off x="2857215" y="2018462"/>
                <a:ext cx="85523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𝑒𝑖𝑔h𝑡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789E3DD8-7E47-521C-1D08-2EA6B9068F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7215" y="2018462"/>
                <a:ext cx="855234" cy="276999"/>
              </a:xfrm>
              <a:prstGeom prst="rect">
                <a:avLst/>
              </a:prstGeom>
              <a:blipFill>
                <a:blip r:embed="rId4"/>
                <a:stretch>
                  <a:fillRect l="-5000" r="-7857" b="-3695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31022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21A47A-B06F-4004-9148-9FE63A9BD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Fully Connected Layer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E636D51-8B5D-4055-94E1-7C63DAD5195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모든 노드들이 서로 연결된 형태의 기본적인 신경망</a:t>
            </a:r>
            <a:endParaRPr lang="en-US" altLang="ko-KR" dirty="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B648FB08-D3F4-4D55-A859-2057CEFFE69D}"/>
              </a:ext>
            </a:extLst>
          </p:cNvPr>
          <p:cNvSpPr/>
          <p:nvPr/>
        </p:nvSpPr>
        <p:spPr bwMode="auto">
          <a:xfrm>
            <a:off x="1423286" y="2424311"/>
            <a:ext cx="450000" cy="450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3175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82800" rIns="0" bIns="82800" numCol="1" rtlCol="0" anchor="ctr" anchorCtr="0" compatLnSpc="1">
            <a:prstTxWarp prst="textNoShape">
              <a:avLst/>
            </a:prstTxWarp>
          </a:bodyPr>
          <a:lstStyle/>
          <a:p>
            <a:pPr marL="190500" marR="0" indent="-190500" algn="ctr" defTabSz="282575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57ADD4A7-BB9F-49F7-8430-80B0F19985AF}"/>
              </a:ext>
            </a:extLst>
          </p:cNvPr>
          <p:cNvSpPr/>
          <p:nvPr/>
        </p:nvSpPr>
        <p:spPr bwMode="auto">
          <a:xfrm>
            <a:off x="1423286" y="3048677"/>
            <a:ext cx="450000" cy="450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3175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82800" rIns="0" bIns="82800" numCol="1" rtlCol="0" anchor="ctr" anchorCtr="0" compatLnSpc="1">
            <a:prstTxWarp prst="textNoShape">
              <a:avLst/>
            </a:prstTxWarp>
          </a:bodyPr>
          <a:lstStyle/>
          <a:p>
            <a:pPr marL="190500" marR="0" indent="-190500" algn="ctr" defTabSz="282575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7E548A9A-513C-4FF5-81E6-72C5D62469C7}"/>
              </a:ext>
            </a:extLst>
          </p:cNvPr>
          <p:cNvSpPr/>
          <p:nvPr/>
        </p:nvSpPr>
        <p:spPr bwMode="auto">
          <a:xfrm>
            <a:off x="1423286" y="3671448"/>
            <a:ext cx="450000" cy="450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3175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82800" rIns="0" bIns="82800" numCol="1" rtlCol="0" anchor="ctr" anchorCtr="0" compatLnSpc="1">
            <a:prstTxWarp prst="textNoShape">
              <a:avLst/>
            </a:prstTxWarp>
          </a:bodyPr>
          <a:lstStyle/>
          <a:p>
            <a:pPr marL="190500" marR="0" indent="-190500" algn="ctr" defTabSz="282575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CC2FDFD0-388C-4F89-89A8-432573CDEB9F}"/>
              </a:ext>
            </a:extLst>
          </p:cNvPr>
          <p:cNvSpPr/>
          <p:nvPr/>
        </p:nvSpPr>
        <p:spPr bwMode="auto">
          <a:xfrm>
            <a:off x="1423286" y="4294219"/>
            <a:ext cx="450000" cy="450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3175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82800" rIns="0" bIns="82800" numCol="1" rtlCol="0" anchor="ctr" anchorCtr="0" compatLnSpc="1">
            <a:prstTxWarp prst="textNoShape">
              <a:avLst/>
            </a:prstTxWarp>
          </a:bodyPr>
          <a:lstStyle/>
          <a:p>
            <a:pPr marL="190500" marR="0" indent="-190500" algn="ctr" defTabSz="282575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4872E9AA-6F91-47E0-A4D3-6BCBFED05EC8}"/>
              </a:ext>
            </a:extLst>
          </p:cNvPr>
          <p:cNvSpPr/>
          <p:nvPr/>
        </p:nvSpPr>
        <p:spPr bwMode="auto">
          <a:xfrm>
            <a:off x="1423286" y="4916990"/>
            <a:ext cx="450000" cy="450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3175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82800" rIns="0" bIns="82800" numCol="1" rtlCol="0" anchor="ctr" anchorCtr="0" compatLnSpc="1">
            <a:prstTxWarp prst="textNoShape">
              <a:avLst/>
            </a:prstTxWarp>
          </a:bodyPr>
          <a:lstStyle/>
          <a:p>
            <a:pPr marL="190500" marR="0" indent="-190500" algn="ctr" defTabSz="282575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2CA095A9-17BB-485B-ABEC-C05CF0C8842E}"/>
              </a:ext>
            </a:extLst>
          </p:cNvPr>
          <p:cNvSpPr/>
          <p:nvPr/>
        </p:nvSpPr>
        <p:spPr bwMode="auto">
          <a:xfrm>
            <a:off x="3059832" y="2424311"/>
            <a:ext cx="450000" cy="450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3175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82800" rIns="0" bIns="82800" numCol="1" rtlCol="0" anchor="ctr" anchorCtr="0" compatLnSpc="1">
            <a:prstTxWarp prst="textNoShape">
              <a:avLst/>
            </a:prstTxWarp>
          </a:bodyPr>
          <a:lstStyle/>
          <a:p>
            <a:pPr marL="190500" marR="0" indent="-190500" algn="l" defTabSz="282575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57B729CB-D99F-4307-937B-092C90464C5A}"/>
              </a:ext>
            </a:extLst>
          </p:cNvPr>
          <p:cNvSpPr/>
          <p:nvPr/>
        </p:nvSpPr>
        <p:spPr bwMode="auto">
          <a:xfrm>
            <a:off x="3059832" y="3048677"/>
            <a:ext cx="450000" cy="450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3175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82800" rIns="0" bIns="82800" numCol="1" rtlCol="0" anchor="ctr" anchorCtr="0" compatLnSpc="1">
            <a:prstTxWarp prst="textNoShape">
              <a:avLst/>
            </a:prstTxWarp>
          </a:bodyPr>
          <a:lstStyle/>
          <a:p>
            <a:pPr marL="190500" marR="0" indent="-190500" algn="l" defTabSz="282575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1C17A2C3-38AC-4579-A241-2E194CFFF652}"/>
              </a:ext>
            </a:extLst>
          </p:cNvPr>
          <p:cNvSpPr/>
          <p:nvPr/>
        </p:nvSpPr>
        <p:spPr bwMode="auto">
          <a:xfrm>
            <a:off x="3059832" y="3671448"/>
            <a:ext cx="450000" cy="450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3175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82800" rIns="0" bIns="82800" numCol="1" rtlCol="0" anchor="ctr" anchorCtr="0" compatLnSpc="1">
            <a:prstTxWarp prst="textNoShape">
              <a:avLst/>
            </a:prstTxWarp>
          </a:bodyPr>
          <a:lstStyle/>
          <a:p>
            <a:pPr marL="190500" marR="0" indent="-190500" algn="l" defTabSz="282575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2441DFA4-AF97-47E5-904F-04CE513310A5}"/>
              </a:ext>
            </a:extLst>
          </p:cNvPr>
          <p:cNvSpPr/>
          <p:nvPr/>
        </p:nvSpPr>
        <p:spPr bwMode="auto">
          <a:xfrm>
            <a:off x="3059832" y="4294219"/>
            <a:ext cx="450000" cy="450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3175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82800" rIns="0" bIns="82800" numCol="1" rtlCol="0" anchor="ctr" anchorCtr="0" compatLnSpc="1">
            <a:prstTxWarp prst="textNoShape">
              <a:avLst/>
            </a:prstTxWarp>
          </a:bodyPr>
          <a:lstStyle/>
          <a:p>
            <a:pPr marL="190500" marR="0" indent="-190500" algn="l" defTabSz="282575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155443D7-FFFB-42B5-A5A0-97A83A38E223}"/>
              </a:ext>
            </a:extLst>
          </p:cNvPr>
          <p:cNvSpPr/>
          <p:nvPr/>
        </p:nvSpPr>
        <p:spPr bwMode="auto">
          <a:xfrm>
            <a:off x="3059832" y="4916990"/>
            <a:ext cx="450000" cy="450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3175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82800" rIns="0" bIns="82800" numCol="1" rtlCol="0" anchor="ctr" anchorCtr="0" compatLnSpc="1">
            <a:prstTxWarp prst="textNoShape">
              <a:avLst/>
            </a:prstTxWarp>
          </a:bodyPr>
          <a:lstStyle/>
          <a:p>
            <a:pPr marL="190500" marR="0" indent="-190500" algn="l" defTabSz="282575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44D8CBA3-B1C4-478B-96E2-60F01621D65C}"/>
              </a:ext>
            </a:extLst>
          </p:cNvPr>
          <p:cNvSpPr/>
          <p:nvPr/>
        </p:nvSpPr>
        <p:spPr bwMode="auto">
          <a:xfrm>
            <a:off x="4696378" y="3198447"/>
            <a:ext cx="450000" cy="450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3175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82800" rIns="0" bIns="82800" numCol="1" rtlCol="0" anchor="ctr" anchorCtr="0" compatLnSpc="1">
            <a:prstTxWarp prst="textNoShape">
              <a:avLst/>
            </a:prstTxWarp>
          </a:bodyPr>
          <a:lstStyle/>
          <a:p>
            <a:pPr marL="190500" marR="0" indent="-190500" algn="l" defTabSz="282575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72C0C049-F876-4360-9500-AC803DD4EE67}"/>
              </a:ext>
            </a:extLst>
          </p:cNvPr>
          <p:cNvSpPr/>
          <p:nvPr/>
        </p:nvSpPr>
        <p:spPr bwMode="auto">
          <a:xfrm>
            <a:off x="4696378" y="4152503"/>
            <a:ext cx="450000" cy="450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3175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82800" rIns="0" bIns="82800" numCol="1" rtlCol="0" anchor="ctr" anchorCtr="0" compatLnSpc="1">
            <a:prstTxWarp prst="textNoShape">
              <a:avLst/>
            </a:prstTxWarp>
          </a:bodyPr>
          <a:lstStyle/>
          <a:p>
            <a:pPr marL="190500" marR="0" indent="-190500" algn="l" defTabSz="282575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EF9086E0-CA2A-42EF-AAB1-2B6383E895C4}"/>
              </a:ext>
            </a:extLst>
          </p:cNvPr>
          <p:cNvCxnSpPr>
            <a:cxnSpLocks/>
            <a:stCxn id="52" idx="6"/>
            <a:endCxn id="59" idx="2"/>
          </p:cNvCxnSpPr>
          <p:nvPr/>
        </p:nvCxnSpPr>
        <p:spPr bwMode="auto">
          <a:xfrm>
            <a:off x="1873286" y="2649311"/>
            <a:ext cx="1186546" cy="624366"/>
          </a:xfrm>
          <a:prstGeom prst="line">
            <a:avLst/>
          </a:prstGeom>
          <a:ln w="3175">
            <a:solidFill>
              <a:schemeClr val="accent6">
                <a:lumMod val="75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8BFEC3B4-2A0C-4590-96EB-DD36D1E9F557}"/>
              </a:ext>
            </a:extLst>
          </p:cNvPr>
          <p:cNvCxnSpPr>
            <a:cxnSpLocks/>
            <a:stCxn id="52" idx="6"/>
            <a:endCxn id="60" idx="2"/>
          </p:cNvCxnSpPr>
          <p:nvPr/>
        </p:nvCxnSpPr>
        <p:spPr bwMode="auto">
          <a:xfrm>
            <a:off x="1873286" y="2649311"/>
            <a:ext cx="1186546" cy="1247137"/>
          </a:xfrm>
          <a:prstGeom prst="line">
            <a:avLst/>
          </a:prstGeom>
          <a:ln w="3175">
            <a:solidFill>
              <a:schemeClr val="accent6">
                <a:lumMod val="75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4AA7BE46-017F-442D-AA9D-7E967B231B88}"/>
              </a:ext>
            </a:extLst>
          </p:cNvPr>
          <p:cNvCxnSpPr>
            <a:cxnSpLocks/>
            <a:stCxn id="52" idx="6"/>
            <a:endCxn id="61" idx="2"/>
          </p:cNvCxnSpPr>
          <p:nvPr/>
        </p:nvCxnSpPr>
        <p:spPr bwMode="auto">
          <a:xfrm>
            <a:off x="1873286" y="2649311"/>
            <a:ext cx="1186546" cy="1869908"/>
          </a:xfrm>
          <a:prstGeom prst="line">
            <a:avLst/>
          </a:prstGeom>
          <a:ln w="3175">
            <a:solidFill>
              <a:schemeClr val="accent6">
                <a:lumMod val="75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CA8C823E-E7C0-434C-AE18-781D17C72C45}"/>
              </a:ext>
            </a:extLst>
          </p:cNvPr>
          <p:cNvCxnSpPr>
            <a:cxnSpLocks/>
            <a:stCxn id="52" idx="6"/>
            <a:endCxn id="62" idx="2"/>
          </p:cNvCxnSpPr>
          <p:nvPr/>
        </p:nvCxnSpPr>
        <p:spPr bwMode="auto">
          <a:xfrm>
            <a:off x="1873286" y="2649311"/>
            <a:ext cx="1186546" cy="2492679"/>
          </a:xfrm>
          <a:prstGeom prst="line">
            <a:avLst/>
          </a:prstGeom>
          <a:ln w="3175">
            <a:solidFill>
              <a:schemeClr val="accent6">
                <a:lumMod val="75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A5A7F1D0-6E0D-48D5-9CDE-53445BC3F986}"/>
              </a:ext>
            </a:extLst>
          </p:cNvPr>
          <p:cNvCxnSpPr>
            <a:cxnSpLocks/>
            <a:stCxn id="54" idx="6"/>
            <a:endCxn id="59" idx="2"/>
          </p:cNvCxnSpPr>
          <p:nvPr/>
        </p:nvCxnSpPr>
        <p:spPr bwMode="auto">
          <a:xfrm>
            <a:off x="1873286" y="3273677"/>
            <a:ext cx="1186546" cy="0"/>
          </a:xfrm>
          <a:prstGeom prst="line">
            <a:avLst/>
          </a:prstGeom>
          <a:ln w="3175">
            <a:solidFill>
              <a:schemeClr val="accent6">
                <a:lumMod val="75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3E57F760-9DF3-4C44-B457-7617A1614F4C}"/>
              </a:ext>
            </a:extLst>
          </p:cNvPr>
          <p:cNvCxnSpPr>
            <a:cxnSpLocks/>
            <a:stCxn id="54" idx="6"/>
            <a:endCxn id="60" idx="2"/>
          </p:cNvCxnSpPr>
          <p:nvPr/>
        </p:nvCxnSpPr>
        <p:spPr bwMode="auto">
          <a:xfrm>
            <a:off x="1873286" y="3273677"/>
            <a:ext cx="1186546" cy="622771"/>
          </a:xfrm>
          <a:prstGeom prst="line">
            <a:avLst/>
          </a:prstGeom>
          <a:ln w="3175">
            <a:solidFill>
              <a:schemeClr val="accent6">
                <a:lumMod val="75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E87CB5BC-C5FB-4026-BF19-832BEC268246}"/>
              </a:ext>
            </a:extLst>
          </p:cNvPr>
          <p:cNvCxnSpPr>
            <a:cxnSpLocks/>
            <a:stCxn id="54" idx="6"/>
            <a:endCxn id="61" idx="2"/>
          </p:cNvCxnSpPr>
          <p:nvPr/>
        </p:nvCxnSpPr>
        <p:spPr bwMode="auto">
          <a:xfrm>
            <a:off x="1873286" y="3273677"/>
            <a:ext cx="1186546" cy="1245542"/>
          </a:xfrm>
          <a:prstGeom prst="line">
            <a:avLst/>
          </a:prstGeom>
          <a:ln w="3175">
            <a:solidFill>
              <a:schemeClr val="accent6">
                <a:lumMod val="75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29466D8A-7BF7-40B5-8E99-EA0D700CE3C0}"/>
              </a:ext>
            </a:extLst>
          </p:cNvPr>
          <p:cNvCxnSpPr>
            <a:cxnSpLocks/>
            <a:stCxn id="54" idx="6"/>
            <a:endCxn id="62" idx="2"/>
          </p:cNvCxnSpPr>
          <p:nvPr/>
        </p:nvCxnSpPr>
        <p:spPr bwMode="auto">
          <a:xfrm>
            <a:off x="1873286" y="3273677"/>
            <a:ext cx="1186546" cy="1868313"/>
          </a:xfrm>
          <a:prstGeom prst="line">
            <a:avLst/>
          </a:prstGeom>
          <a:ln w="3175">
            <a:solidFill>
              <a:schemeClr val="accent6">
                <a:lumMod val="75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4669E472-2994-40AC-A522-AA0762D658B4}"/>
              </a:ext>
            </a:extLst>
          </p:cNvPr>
          <p:cNvCxnSpPr>
            <a:cxnSpLocks/>
            <a:stCxn id="55" idx="6"/>
            <a:endCxn id="59" idx="2"/>
          </p:cNvCxnSpPr>
          <p:nvPr/>
        </p:nvCxnSpPr>
        <p:spPr bwMode="auto">
          <a:xfrm flipV="1">
            <a:off x="1873286" y="3273677"/>
            <a:ext cx="1186546" cy="622771"/>
          </a:xfrm>
          <a:prstGeom prst="line">
            <a:avLst/>
          </a:prstGeom>
          <a:ln w="3175">
            <a:solidFill>
              <a:schemeClr val="accent6">
                <a:lumMod val="75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EE5180F3-906B-4041-98C9-85DCDC56CAE2}"/>
              </a:ext>
            </a:extLst>
          </p:cNvPr>
          <p:cNvCxnSpPr>
            <a:cxnSpLocks/>
            <a:stCxn id="55" idx="6"/>
            <a:endCxn id="60" idx="2"/>
          </p:cNvCxnSpPr>
          <p:nvPr/>
        </p:nvCxnSpPr>
        <p:spPr bwMode="auto">
          <a:xfrm>
            <a:off x="1873286" y="3896448"/>
            <a:ext cx="1186546" cy="0"/>
          </a:xfrm>
          <a:prstGeom prst="line">
            <a:avLst/>
          </a:prstGeom>
          <a:ln w="3175">
            <a:solidFill>
              <a:schemeClr val="accent6">
                <a:lumMod val="75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E79FF835-DDAB-4210-9F16-79B56F7D6498}"/>
              </a:ext>
            </a:extLst>
          </p:cNvPr>
          <p:cNvCxnSpPr>
            <a:cxnSpLocks/>
            <a:stCxn id="55" idx="6"/>
            <a:endCxn id="61" idx="2"/>
          </p:cNvCxnSpPr>
          <p:nvPr/>
        </p:nvCxnSpPr>
        <p:spPr bwMode="auto">
          <a:xfrm>
            <a:off x="1873286" y="3896448"/>
            <a:ext cx="1186546" cy="622771"/>
          </a:xfrm>
          <a:prstGeom prst="line">
            <a:avLst/>
          </a:prstGeom>
          <a:ln w="3175">
            <a:solidFill>
              <a:schemeClr val="accent6">
                <a:lumMod val="75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6C3B21DB-C110-4855-8299-F761C3BD8F02}"/>
              </a:ext>
            </a:extLst>
          </p:cNvPr>
          <p:cNvCxnSpPr>
            <a:cxnSpLocks/>
            <a:stCxn id="55" idx="6"/>
            <a:endCxn id="62" idx="2"/>
          </p:cNvCxnSpPr>
          <p:nvPr/>
        </p:nvCxnSpPr>
        <p:spPr bwMode="auto">
          <a:xfrm>
            <a:off x="1873286" y="3896448"/>
            <a:ext cx="1186546" cy="1245542"/>
          </a:xfrm>
          <a:prstGeom prst="line">
            <a:avLst/>
          </a:prstGeom>
          <a:ln w="3175">
            <a:solidFill>
              <a:schemeClr val="accent6">
                <a:lumMod val="75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D0534974-5CA5-4241-9E58-7CFF92741DF4}"/>
              </a:ext>
            </a:extLst>
          </p:cNvPr>
          <p:cNvCxnSpPr>
            <a:cxnSpLocks/>
            <a:stCxn id="56" idx="6"/>
            <a:endCxn id="59" idx="2"/>
          </p:cNvCxnSpPr>
          <p:nvPr/>
        </p:nvCxnSpPr>
        <p:spPr bwMode="auto">
          <a:xfrm flipV="1">
            <a:off x="1873286" y="3273677"/>
            <a:ext cx="1186546" cy="1245542"/>
          </a:xfrm>
          <a:prstGeom prst="line">
            <a:avLst/>
          </a:prstGeom>
          <a:ln w="3175">
            <a:solidFill>
              <a:schemeClr val="accent6">
                <a:lumMod val="75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0990954B-80E6-49D8-A87E-3826A3DC4B23}"/>
              </a:ext>
            </a:extLst>
          </p:cNvPr>
          <p:cNvCxnSpPr>
            <a:cxnSpLocks/>
            <a:stCxn id="56" idx="6"/>
            <a:endCxn id="60" idx="2"/>
          </p:cNvCxnSpPr>
          <p:nvPr/>
        </p:nvCxnSpPr>
        <p:spPr bwMode="auto">
          <a:xfrm flipV="1">
            <a:off x="1873286" y="3896448"/>
            <a:ext cx="1186546" cy="622771"/>
          </a:xfrm>
          <a:prstGeom prst="line">
            <a:avLst/>
          </a:prstGeom>
          <a:ln w="3175">
            <a:solidFill>
              <a:schemeClr val="accent6">
                <a:lumMod val="75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6F169CA1-8EE6-4742-9298-42298B424454}"/>
              </a:ext>
            </a:extLst>
          </p:cNvPr>
          <p:cNvCxnSpPr>
            <a:cxnSpLocks/>
            <a:stCxn id="56" idx="6"/>
            <a:endCxn id="61" idx="2"/>
          </p:cNvCxnSpPr>
          <p:nvPr/>
        </p:nvCxnSpPr>
        <p:spPr bwMode="auto">
          <a:xfrm>
            <a:off x="1873286" y="4519219"/>
            <a:ext cx="1186546" cy="0"/>
          </a:xfrm>
          <a:prstGeom prst="line">
            <a:avLst/>
          </a:prstGeom>
          <a:ln w="3175">
            <a:solidFill>
              <a:schemeClr val="accent6">
                <a:lumMod val="75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6462B7F9-BAE4-4B83-B56F-A24A3593922D}"/>
              </a:ext>
            </a:extLst>
          </p:cNvPr>
          <p:cNvCxnSpPr>
            <a:cxnSpLocks/>
            <a:stCxn id="56" idx="6"/>
            <a:endCxn id="62" idx="2"/>
          </p:cNvCxnSpPr>
          <p:nvPr/>
        </p:nvCxnSpPr>
        <p:spPr bwMode="auto">
          <a:xfrm>
            <a:off x="1873286" y="4519219"/>
            <a:ext cx="1186546" cy="622771"/>
          </a:xfrm>
          <a:prstGeom prst="line">
            <a:avLst/>
          </a:prstGeom>
          <a:ln w="3175">
            <a:solidFill>
              <a:schemeClr val="accent6">
                <a:lumMod val="75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C6441B4F-5C9B-42E5-AB18-4803F492B1C1}"/>
              </a:ext>
            </a:extLst>
          </p:cNvPr>
          <p:cNvCxnSpPr>
            <a:cxnSpLocks/>
            <a:stCxn id="57" idx="6"/>
            <a:endCxn id="59" idx="2"/>
          </p:cNvCxnSpPr>
          <p:nvPr/>
        </p:nvCxnSpPr>
        <p:spPr bwMode="auto">
          <a:xfrm flipV="1">
            <a:off x="1873286" y="3273677"/>
            <a:ext cx="1186546" cy="1868313"/>
          </a:xfrm>
          <a:prstGeom prst="line">
            <a:avLst/>
          </a:prstGeom>
          <a:ln w="3175">
            <a:solidFill>
              <a:schemeClr val="accent6">
                <a:lumMod val="75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BDE39982-D6B5-4EEC-999B-F3D88E37DDDD}"/>
              </a:ext>
            </a:extLst>
          </p:cNvPr>
          <p:cNvCxnSpPr>
            <a:cxnSpLocks/>
            <a:stCxn id="57" idx="6"/>
            <a:endCxn id="60" idx="2"/>
          </p:cNvCxnSpPr>
          <p:nvPr/>
        </p:nvCxnSpPr>
        <p:spPr bwMode="auto">
          <a:xfrm flipV="1">
            <a:off x="1873286" y="3896448"/>
            <a:ext cx="1186546" cy="1245542"/>
          </a:xfrm>
          <a:prstGeom prst="line">
            <a:avLst/>
          </a:prstGeom>
          <a:ln w="3175">
            <a:solidFill>
              <a:schemeClr val="accent6">
                <a:lumMod val="75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426B6062-3CA9-4707-ABE7-58E73123B2CD}"/>
              </a:ext>
            </a:extLst>
          </p:cNvPr>
          <p:cNvCxnSpPr>
            <a:cxnSpLocks/>
            <a:stCxn id="57" idx="6"/>
            <a:endCxn id="61" idx="2"/>
          </p:cNvCxnSpPr>
          <p:nvPr/>
        </p:nvCxnSpPr>
        <p:spPr bwMode="auto">
          <a:xfrm flipV="1">
            <a:off x="1873286" y="4519219"/>
            <a:ext cx="1186546" cy="622771"/>
          </a:xfrm>
          <a:prstGeom prst="line">
            <a:avLst/>
          </a:prstGeom>
          <a:ln w="3175">
            <a:solidFill>
              <a:schemeClr val="accent6">
                <a:lumMod val="75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343D485C-2707-40A1-876F-0539A04FFDF7}"/>
              </a:ext>
            </a:extLst>
          </p:cNvPr>
          <p:cNvCxnSpPr>
            <a:cxnSpLocks/>
            <a:stCxn id="57" idx="6"/>
            <a:endCxn id="62" idx="2"/>
          </p:cNvCxnSpPr>
          <p:nvPr/>
        </p:nvCxnSpPr>
        <p:spPr bwMode="auto">
          <a:xfrm>
            <a:off x="1873286" y="5141990"/>
            <a:ext cx="1186546" cy="0"/>
          </a:xfrm>
          <a:prstGeom prst="line">
            <a:avLst/>
          </a:prstGeom>
          <a:ln w="3175">
            <a:solidFill>
              <a:schemeClr val="accent6">
                <a:lumMod val="75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87EBFCD7-1081-4B2A-9D85-F57400213962}"/>
              </a:ext>
            </a:extLst>
          </p:cNvPr>
          <p:cNvCxnSpPr>
            <a:stCxn id="52" idx="6"/>
            <a:endCxn id="58" idx="2"/>
          </p:cNvCxnSpPr>
          <p:nvPr/>
        </p:nvCxnSpPr>
        <p:spPr bwMode="auto">
          <a:xfrm>
            <a:off x="1873286" y="2649311"/>
            <a:ext cx="1186546" cy="0"/>
          </a:xfrm>
          <a:prstGeom prst="line">
            <a:avLst/>
          </a:prstGeom>
          <a:ln w="3175">
            <a:solidFill>
              <a:schemeClr val="accent6">
                <a:lumMod val="75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B627286E-F7A7-4386-B41B-BAF35CE2927B}"/>
              </a:ext>
            </a:extLst>
          </p:cNvPr>
          <p:cNvCxnSpPr>
            <a:cxnSpLocks/>
            <a:stCxn id="54" idx="6"/>
            <a:endCxn id="58" idx="2"/>
          </p:cNvCxnSpPr>
          <p:nvPr/>
        </p:nvCxnSpPr>
        <p:spPr bwMode="auto">
          <a:xfrm flipV="1">
            <a:off x="1873286" y="2649311"/>
            <a:ext cx="1186546" cy="624366"/>
          </a:xfrm>
          <a:prstGeom prst="line">
            <a:avLst/>
          </a:prstGeom>
          <a:ln w="3175">
            <a:solidFill>
              <a:schemeClr val="accent6">
                <a:lumMod val="75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0D6762C8-40AA-444F-A73A-05BAAE59C30D}"/>
              </a:ext>
            </a:extLst>
          </p:cNvPr>
          <p:cNvCxnSpPr>
            <a:cxnSpLocks/>
            <a:stCxn id="55" idx="6"/>
            <a:endCxn id="58" idx="2"/>
          </p:cNvCxnSpPr>
          <p:nvPr/>
        </p:nvCxnSpPr>
        <p:spPr bwMode="auto">
          <a:xfrm flipV="1">
            <a:off x="1873286" y="2649311"/>
            <a:ext cx="1186546" cy="1247137"/>
          </a:xfrm>
          <a:prstGeom prst="line">
            <a:avLst/>
          </a:prstGeom>
          <a:ln w="3175">
            <a:solidFill>
              <a:schemeClr val="accent6">
                <a:lumMod val="75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4DC05985-B71E-41BC-A368-2949F2633DB0}"/>
              </a:ext>
            </a:extLst>
          </p:cNvPr>
          <p:cNvCxnSpPr>
            <a:cxnSpLocks/>
            <a:stCxn id="56" idx="6"/>
            <a:endCxn id="58" idx="2"/>
          </p:cNvCxnSpPr>
          <p:nvPr/>
        </p:nvCxnSpPr>
        <p:spPr bwMode="auto">
          <a:xfrm flipV="1">
            <a:off x="1873286" y="2649311"/>
            <a:ext cx="1186546" cy="1869908"/>
          </a:xfrm>
          <a:prstGeom prst="line">
            <a:avLst/>
          </a:prstGeom>
          <a:ln w="3175">
            <a:solidFill>
              <a:schemeClr val="accent6">
                <a:lumMod val="75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A80D02C2-AFA1-410E-A8A8-1E0B4B8AB0EC}"/>
              </a:ext>
            </a:extLst>
          </p:cNvPr>
          <p:cNvCxnSpPr>
            <a:cxnSpLocks/>
            <a:stCxn id="57" idx="6"/>
            <a:endCxn id="58" idx="2"/>
          </p:cNvCxnSpPr>
          <p:nvPr/>
        </p:nvCxnSpPr>
        <p:spPr bwMode="auto">
          <a:xfrm flipV="1">
            <a:off x="1873286" y="2649311"/>
            <a:ext cx="1186546" cy="2492679"/>
          </a:xfrm>
          <a:prstGeom prst="line">
            <a:avLst/>
          </a:prstGeom>
          <a:ln w="3175">
            <a:solidFill>
              <a:schemeClr val="accent6">
                <a:lumMod val="75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D3B1AE15-85F1-4FD8-8618-1E82BBDC19A1}"/>
              </a:ext>
            </a:extLst>
          </p:cNvPr>
          <p:cNvCxnSpPr>
            <a:cxnSpLocks/>
            <a:stCxn id="58" idx="6"/>
            <a:endCxn id="63" idx="2"/>
          </p:cNvCxnSpPr>
          <p:nvPr/>
        </p:nvCxnSpPr>
        <p:spPr bwMode="auto">
          <a:xfrm>
            <a:off x="3509832" y="2649311"/>
            <a:ext cx="1186546" cy="774136"/>
          </a:xfrm>
          <a:prstGeom prst="line">
            <a:avLst/>
          </a:prstGeom>
          <a:ln w="3175">
            <a:solidFill>
              <a:schemeClr val="accent6">
                <a:lumMod val="75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9D313334-A8B7-43ED-BA2D-2BE9B7E60398}"/>
              </a:ext>
            </a:extLst>
          </p:cNvPr>
          <p:cNvCxnSpPr>
            <a:cxnSpLocks/>
            <a:stCxn id="59" idx="6"/>
            <a:endCxn id="63" idx="2"/>
          </p:cNvCxnSpPr>
          <p:nvPr/>
        </p:nvCxnSpPr>
        <p:spPr bwMode="auto">
          <a:xfrm>
            <a:off x="3509832" y="3273677"/>
            <a:ext cx="1186546" cy="149770"/>
          </a:xfrm>
          <a:prstGeom prst="line">
            <a:avLst/>
          </a:prstGeom>
          <a:ln w="3175">
            <a:solidFill>
              <a:schemeClr val="accent6">
                <a:lumMod val="75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960973C3-2D5E-4809-AAF4-421A53284950}"/>
              </a:ext>
            </a:extLst>
          </p:cNvPr>
          <p:cNvCxnSpPr>
            <a:cxnSpLocks/>
            <a:stCxn id="60" idx="6"/>
            <a:endCxn id="63" idx="2"/>
          </p:cNvCxnSpPr>
          <p:nvPr/>
        </p:nvCxnSpPr>
        <p:spPr bwMode="auto">
          <a:xfrm flipV="1">
            <a:off x="3509832" y="3423447"/>
            <a:ext cx="1186546" cy="473001"/>
          </a:xfrm>
          <a:prstGeom prst="line">
            <a:avLst/>
          </a:prstGeom>
          <a:ln w="3175">
            <a:solidFill>
              <a:schemeClr val="accent6">
                <a:lumMod val="75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E5284267-E5CF-46EE-8A28-9DDE0E16EA00}"/>
              </a:ext>
            </a:extLst>
          </p:cNvPr>
          <p:cNvCxnSpPr>
            <a:cxnSpLocks/>
            <a:stCxn id="61" idx="6"/>
            <a:endCxn id="63" idx="2"/>
          </p:cNvCxnSpPr>
          <p:nvPr/>
        </p:nvCxnSpPr>
        <p:spPr bwMode="auto">
          <a:xfrm flipV="1">
            <a:off x="3509832" y="3423447"/>
            <a:ext cx="1186546" cy="1095772"/>
          </a:xfrm>
          <a:prstGeom prst="line">
            <a:avLst/>
          </a:prstGeom>
          <a:ln w="3175">
            <a:solidFill>
              <a:schemeClr val="accent6">
                <a:lumMod val="75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B59F2405-E479-4A53-B69C-7F2C0AEEC5D1}"/>
              </a:ext>
            </a:extLst>
          </p:cNvPr>
          <p:cNvCxnSpPr>
            <a:cxnSpLocks/>
            <a:stCxn id="62" idx="6"/>
            <a:endCxn id="63" idx="2"/>
          </p:cNvCxnSpPr>
          <p:nvPr/>
        </p:nvCxnSpPr>
        <p:spPr bwMode="auto">
          <a:xfrm flipV="1">
            <a:off x="3509832" y="3423447"/>
            <a:ext cx="1186546" cy="1718543"/>
          </a:xfrm>
          <a:prstGeom prst="line">
            <a:avLst/>
          </a:prstGeom>
          <a:ln w="3175">
            <a:solidFill>
              <a:schemeClr val="accent6">
                <a:lumMod val="75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EEE79CC6-FE4E-4EF6-BF89-25DDEF909FEA}"/>
              </a:ext>
            </a:extLst>
          </p:cNvPr>
          <p:cNvCxnSpPr>
            <a:cxnSpLocks/>
            <a:stCxn id="58" idx="6"/>
            <a:endCxn id="64" idx="2"/>
          </p:cNvCxnSpPr>
          <p:nvPr/>
        </p:nvCxnSpPr>
        <p:spPr bwMode="auto">
          <a:xfrm>
            <a:off x="3509832" y="2649311"/>
            <a:ext cx="1186546" cy="1728192"/>
          </a:xfrm>
          <a:prstGeom prst="line">
            <a:avLst/>
          </a:prstGeom>
          <a:ln w="3175">
            <a:solidFill>
              <a:schemeClr val="accent6">
                <a:lumMod val="75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AE48866B-60BE-4F0C-B932-1197BC7F1631}"/>
              </a:ext>
            </a:extLst>
          </p:cNvPr>
          <p:cNvCxnSpPr>
            <a:cxnSpLocks/>
            <a:stCxn id="59" idx="6"/>
            <a:endCxn id="64" idx="2"/>
          </p:cNvCxnSpPr>
          <p:nvPr/>
        </p:nvCxnSpPr>
        <p:spPr bwMode="auto">
          <a:xfrm>
            <a:off x="3509832" y="3273677"/>
            <a:ext cx="1186546" cy="1103826"/>
          </a:xfrm>
          <a:prstGeom prst="line">
            <a:avLst/>
          </a:prstGeom>
          <a:ln w="3175">
            <a:solidFill>
              <a:schemeClr val="accent6">
                <a:lumMod val="75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3C24F89D-877B-4CF5-8D4A-21E794E58D67}"/>
              </a:ext>
            </a:extLst>
          </p:cNvPr>
          <p:cNvCxnSpPr>
            <a:cxnSpLocks/>
            <a:stCxn id="60" idx="6"/>
            <a:endCxn id="64" idx="2"/>
          </p:cNvCxnSpPr>
          <p:nvPr/>
        </p:nvCxnSpPr>
        <p:spPr bwMode="auto">
          <a:xfrm>
            <a:off x="3509832" y="3896448"/>
            <a:ext cx="1186546" cy="481055"/>
          </a:xfrm>
          <a:prstGeom prst="line">
            <a:avLst/>
          </a:prstGeom>
          <a:ln w="3175">
            <a:solidFill>
              <a:schemeClr val="accent6">
                <a:lumMod val="75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873C6B05-4391-47FD-BEF8-901470BED8E7}"/>
              </a:ext>
            </a:extLst>
          </p:cNvPr>
          <p:cNvCxnSpPr>
            <a:cxnSpLocks/>
            <a:stCxn id="61" idx="6"/>
            <a:endCxn id="64" idx="2"/>
          </p:cNvCxnSpPr>
          <p:nvPr/>
        </p:nvCxnSpPr>
        <p:spPr bwMode="auto">
          <a:xfrm flipV="1">
            <a:off x="3509832" y="4377503"/>
            <a:ext cx="1186546" cy="141716"/>
          </a:xfrm>
          <a:prstGeom prst="line">
            <a:avLst/>
          </a:prstGeom>
          <a:ln w="3175">
            <a:solidFill>
              <a:schemeClr val="accent6">
                <a:lumMod val="75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72C73308-4FBD-462F-8E63-1120FB0134CE}"/>
              </a:ext>
            </a:extLst>
          </p:cNvPr>
          <p:cNvCxnSpPr>
            <a:cxnSpLocks/>
            <a:stCxn id="62" idx="6"/>
            <a:endCxn id="64" idx="2"/>
          </p:cNvCxnSpPr>
          <p:nvPr/>
        </p:nvCxnSpPr>
        <p:spPr bwMode="auto">
          <a:xfrm flipV="1">
            <a:off x="3509832" y="4377503"/>
            <a:ext cx="1186546" cy="764487"/>
          </a:xfrm>
          <a:prstGeom prst="line">
            <a:avLst/>
          </a:prstGeom>
          <a:ln w="3175">
            <a:solidFill>
              <a:schemeClr val="accent6">
                <a:lumMod val="75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C04947B9-1E83-44AF-B821-2D7EBD77174A}"/>
              </a:ext>
            </a:extLst>
          </p:cNvPr>
          <p:cNvSpPr txBox="1"/>
          <p:nvPr/>
        </p:nvSpPr>
        <p:spPr>
          <a:xfrm>
            <a:off x="5854870" y="3256304"/>
            <a:ext cx="9028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dirty="0">
                <a:latin typeface="+mn-ea"/>
              </a:rPr>
              <a:t>0.2104</a:t>
            </a:r>
            <a:endParaRPr lang="ko-KR" altLang="en-US" dirty="0">
              <a:latin typeface="+mn-ea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4DA5F338-EB40-459C-A6BB-DC7C5AE8DB1B}"/>
              </a:ext>
            </a:extLst>
          </p:cNvPr>
          <p:cNvSpPr txBox="1"/>
          <p:nvPr/>
        </p:nvSpPr>
        <p:spPr>
          <a:xfrm>
            <a:off x="5723425" y="4208226"/>
            <a:ext cx="1034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dirty="0">
                <a:latin typeface="+mn-ea"/>
              </a:rPr>
              <a:t>-1.3163</a:t>
            </a:r>
            <a:endParaRPr lang="ko-KR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732292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0E597-081E-B981-8ED7-37C39FEB1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050CC0-E4F8-FDE2-15C1-0EEA120DC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Fully Connected Layer: </a:t>
            </a:r>
            <a:r>
              <a:rPr lang="ko-KR" altLang="en-US" dirty="0"/>
              <a:t>소스코드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3B3362-CA65-ED7D-9B2A-209F7ACD0D6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/>
              <a:t>Fully connected layer</a:t>
            </a:r>
            <a:endParaRPr lang="en-US" altLang="ko-KR" sz="1400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9E7722B-9E4C-79E9-55F8-8F46341B5ED8}"/>
              </a:ext>
            </a:extLst>
          </p:cNvPr>
          <p:cNvSpPr/>
          <p:nvPr/>
        </p:nvSpPr>
        <p:spPr>
          <a:xfrm>
            <a:off x="537646" y="1765468"/>
            <a:ext cx="8813820" cy="338554"/>
          </a:xfrm>
          <a:prstGeom prst="rect">
            <a:avLst/>
          </a:prstGeom>
          <a:ln w="28575">
            <a:noFill/>
          </a:ln>
        </p:spPr>
        <p:txBody>
          <a:bodyPr wrap="square">
            <a:spAutoFit/>
          </a:bodyPr>
          <a:lstStyle/>
          <a:p>
            <a:pPr defTabSz="914400"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0" dirty="0" err="1">
                <a:solidFill>
                  <a:prstClr val="black"/>
                </a:solidFill>
                <a:latin typeface="+mn-ea"/>
              </a:rPr>
              <a:t>fc_layer</a:t>
            </a:r>
            <a:r>
              <a:rPr kumimoji="1" lang="en-US" altLang="ko-KR" sz="1600" dirty="0">
                <a:solidFill>
                  <a:prstClr val="black"/>
                </a:solidFill>
                <a:latin typeface="+mn-ea"/>
              </a:rPr>
              <a:t> (</a:t>
            </a:r>
            <a:r>
              <a:rPr kumimoji="1" lang="en-US" altLang="ko-KR" sz="1600" dirty="0">
                <a:solidFill>
                  <a:srgbClr val="C00000"/>
                </a:solidFill>
                <a:latin typeface="+mn-ea"/>
              </a:rPr>
              <a:t>float* input</a:t>
            </a:r>
            <a:r>
              <a:rPr kumimoji="1" lang="en-US" altLang="ko-KR" sz="1600" dirty="0">
                <a:solidFill>
                  <a:prstClr val="black"/>
                </a:solidFill>
                <a:latin typeface="+mn-ea"/>
              </a:rPr>
              <a:t>, </a:t>
            </a:r>
            <a:r>
              <a:rPr kumimoji="1" lang="en-US" altLang="ko-KR" sz="1600" dirty="0">
                <a:solidFill>
                  <a:schemeClr val="accent3"/>
                </a:solidFill>
                <a:latin typeface="+mn-ea"/>
              </a:rPr>
              <a:t>float* output</a:t>
            </a:r>
            <a:r>
              <a:rPr kumimoji="1" lang="en-US" altLang="ko-KR" sz="1600" dirty="0">
                <a:solidFill>
                  <a:prstClr val="black"/>
                </a:solidFill>
                <a:latin typeface="+mn-ea"/>
              </a:rPr>
              <a:t>, </a:t>
            </a:r>
            <a:r>
              <a:rPr kumimoji="1" lang="en-US" altLang="ko-KR" sz="1600" dirty="0">
                <a:solidFill>
                  <a:srgbClr val="00B050"/>
                </a:solidFill>
                <a:latin typeface="+mn-ea"/>
              </a:rPr>
              <a:t>float* weights</a:t>
            </a:r>
            <a:r>
              <a:rPr kumimoji="1" lang="en-US" altLang="ko-KR" sz="1600" dirty="0">
                <a:solidFill>
                  <a:prstClr val="black"/>
                </a:solidFill>
                <a:latin typeface="+mn-ea"/>
              </a:rPr>
              <a:t>, </a:t>
            </a:r>
            <a:r>
              <a:rPr kumimoji="1" lang="en-US" altLang="ko-KR" sz="1600" dirty="0">
                <a:solidFill>
                  <a:srgbClr val="00B0F0"/>
                </a:solidFill>
                <a:latin typeface="+mn-ea"/>
              </a:rPr>
              <a:t>float* biases</a:t>
            </a:r>
            <a:r>
              <a:rPr kumimoji="1" lang="en-US" altLang="ko-KR" sz="1600" dirty="0">
                <a:solidFill>
                  <a:prstClr val="black"/>
                </a:solidFill>
                <a:latin typeface="+mn-ea"/>
              </a:rPr>
              <a:t>, </a:t>
            </a:r>
            <a:r>
              <a:rPr kumimoji="1" lang="en-US" altLang="ko-KR" sz="1600" dirty="0">
                <a:solidFill>
                  <a:srgbClr val="0070C0"/>
                </a:solidFill>
                <a:latin typeface="+mn-ea"/>
              </a:rPr>
              <a:t>int </a:t>
            </a:r>
            <a:r>
              <a:rPr kumimoji="1" lang="en-US" altLang="ko-KR" sz="1600" dirty="0" err="1">
                <a:solidFill>
                  <a:srgbClr val="0070C0"/>
                </a:solidFill>
                <a:latin typeface="+mn-ea"/>
              </a:rPr>
              <a:t>inDim</a:t>
            </a:r>
            <a:r>
              <a:rPr kumimoji="1" lang="en-US" altLang="ko-KR" sz="1600" dirty="0">
                <a:solidFill>
                  <a:prstClr val="black"/>
                </a:solidFill>
                <a:latin typeface="+mn-ea"/>
              </a:rPr>
              <a:t>, </a:t>
            </a:r>
            <a:r>
              <a:rPr kumimoji="1" lang="en-US" altLang="ko-KR" sz="1600" dirty="0">
                <a:solidFill>
                  <a:srgbClr val="7030A0"/>
                </a:solidFill>
                <a:latin typeface="+mn-ea"/>
              </a:rPr>
              <a:t>int </a:t>
            </a:r>
            <a:r>
              <a:rPr kumimoji="1" lang="en-US" altLang="ko-KR" sz="1600" dirty="0" err="1">
                <a:solidFill>
                  <a:srgbClr val="7030A0"/>
                </a:solidFill>
                <a:latin typeface="+mn-ea"/>
              </a:rPr>
              <a:t>outDim</a:t>
            </a:r>
            <a:r>
              <a:rPr kumimoji="1" lang="en-US" altLang="ko-KR" sz="1600" dirty="0">
                <a:solidFill>
                  <a:prstClr val="black"/>
                </a:solidFill>
                <a:latin typeface="+mn-ea"/>
              </a:rPr>
              <a:t>)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6EB0B1E-CD16-49EA-1DA1-BAE4CA9905AC}"/>
              </a:ext>
            </a:extLst>
          </p:cNvPr>
          <p:cNvSpPr/>
          <p:nvPr/>
        </p:nvSpPr>
        <p:spPr>
          <a:xfrm>
            <a:off x="755575" y="2243084"/>
            <a:ext cx="6039671" cy="2308324"/>
          </a:xfrm>
          <a:prstGeom prst="rect">
            <a:avLst/>
          </a:prstGeom>
          <a:ln w="3175">
            <a:solidFill>
              <a:sysClr val="windowText" lastClr="00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for (int </a:t>
            </a:r>
            <a:r>
              <a:rPr kumimoji="1" lang="en-US" altLang="ko-KR" sz="16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outNeuron</a:t>
            </a:r>
            <a:r>
              <a:rPr kumimoji="1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 = 0; </a:t>
            </a:r>
            <a:r>
              <a:rPr kumimoji="1" lang="en-US" altLang="ko-KR" sz="16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outNeuron</a:t>
            </a:r>
            <a:r>
              <a:rPr kumimoji="1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 &lt; </a:t>
            </a:r>
            <a:r>
              <a:rPr kumimoji="1" lang="en-US" altLang="ko-KR" sz="16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outDim</a:t>
            </a:r>
            <a:r>
              <a:rPr kumimoji="1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; ++</a:t>
            </a:r>
            <a:r>
              <a:rPr kumimoji="1" lang="en-US" altLang="ko-KR" sz="16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outNeuron</a:t>
            </a:r>
            <a:r>
              <a:rPr kumimoji="1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) {</a:t>
            </a:r>
          </a:p>
          <a:p>
            <a:pPr marL="0" marR="0" lvl="0" indent="0" defTabSz="91440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    sum = 0;</a:t>
            </a:r>
          </a:p>
          <a:p>
            <a:pPr marL="0" marR="0" lvl="0" indent="0" defTabSz="91440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    for (int </a:t>
            </a:r>
            <a:r>
              <a:rPr kumimoji="1" lang="en-US" altLang="ko-KR" sz="16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inNeuron</a:t>
            </a:r>
            <a:r>
              <a:rPr kumimoji="1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 = 0; </a:t>
            </a:r>
            <a:r>
              <a:rPr kumimoji="1" lang="en-US" altLang="ko-KR" sz="16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inNeuron</a:t>
            </a:r>
            <a:r>
              <a:rPr kumimoji="1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 &lt; </a:t>
            </a:r>
            <a:r>
              <a:rPr kumimoji="1" lang="en-US" altLang="ko-KR" sz="16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inDim</a:t>
            </a:r>
            <a:r>
              <a:rPr kumimoji="1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; ++</a:t>
            </a:r>
            <a:r>
              <a:rPr kumimoji="1" lang="en-US" altLang="ko-KR" sz="16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inNeuron</a:t>
            </a:r>
            <a:r>
              <a:rPr kumimoji="1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) {</a:t>
            </a:r>
          </a:p>
          <a:p>
            <a:pPr marL="0" marR="0" lvl="0" indent="0" defTabSz="91440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        sum += </a:t>
            </a:r>
            <a:r>
              <a:rPr kumimoji="1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</a:rPr>
              <a:t>input[</a:t>
            </a:r>
            <a:r>
              <a:rPr kumimoji="1" lang="en-US" altLang="ko-KR" sz="16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</a:rPr>
              <a:t>inNeuron</a:t>
            </a:r>
            <a:r>
              <a:rPr kumimoji="1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</a:rPr>
              <a:t>]</a:t>
            </a:r>
            <a:r>
              <a:rPr kumimoji="1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 * </a:t>
            </a:r>
            <a:r>
              <a:rPr kumimoji="1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</a:rPr>
              <a:t>*(weights++)</a:t>
            </a:r>
            <a:r>
              <a:rPr kumimoji="1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;</a:t>
            </a:r>
          </a:p>
          <a:p>
            <a:pPr marL="0" marR="0" lvl="0" indent="0" defTabSz="91440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    }</a:t>
            </a:r>
          </a:p>
          <a:p>
            <a:pPr marL="0" marR="0" lvl="0" indent="0" defTabSz="91440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    sum += biases[</a:t>
            </a:r>
            <a:r>
              <a:rPr kumimoji="1" lang="en-US" altLang="ko-KR" sz="16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outNeuron</a:t>
            </a:r>
            <a:r>
              <a:rPr kumimoji="1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];</a:t>
            </a:r>
          </a:p>
          <a:p>
            <a:pPr marL="0" marR="0" lvl="0" indent="0" defTabSz="91440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    if (sum &gt; 0) </a:t>
            </a:r>
            <a:r>
              <a:rPr kumimoji="1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ea"/>
              </a:rPr>
              <a:t>output[</a:t>
            </a:r>
            <a:r>
              <a:rPr kumimoji="1" lang="en-US" altLang="ko-KR" sz="1600" b="0" i="0" u="none" strike="noStrike" kern="0" cap="none" spc="0" normalizeH="0" baseline="0" noProof="0" dirty="0" err="1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ea"/>
              </a:rPr>
              <a:t>outNeuron</a:t>
            </a:r>
            <a:r>
              <a:rPr kumimoji="1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ea"/>
              </a:rPr>
              <a:t>] </a:t>
            </a:r>
            <a:r>
              <a:rPr kumimoji="1" lang="en-US" altLang="ko-KR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</a:rPr>
              <a:t>= sum;</a:t>
            </a:r>
            <a:r>
              <a:rPr kumimoji="1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    </a:t>
            </a:r>
            <a:r>
              <a:rPr kumimoji="1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+mn-ea"/>
              </a:rPr>
              <a:t>//</a:t>
            </a:r>
            <a:r>
              <a:rPr kumimoji="1" lang="en-US" altLang="ko-KR" sz="1600" b="0" i="0" u="none" strike="noStrike" kern="0" cap="none" spc="0" normalizeH="0" baseline="0" noProof="0" dirty="0" err="1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+mn-ea"/>
              </a:rPr>
              <a:t>ReLU</a:t>
            </a:r>
            <a:endParaRPr kumimoji="1" lang="en-US" altLang="ko-KR" sz="1600" b="0" i="0" u="none" strike="noStrike" kern="0" cap="none" spc="0" normalizeH="0" baseline="0" noProof="0" dirty="0">
              <a:ln>
                <a:noFill/>
              </a:ln>
              <a:solidFill>
                <a:srgbClr val="92D050"/>
              </a:solidFill>
              <a:effectLst/>
              <a:uLnTx/>
              <a:uFillTx/>
              <a:latin typeface="+mn-ea"/>
            </a:endParaRPr>
          </a:p>
          <a:p>
            <a:pPr marL="0" marR="0" lvl="0" indent="0" defTabSz="91440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    else </a:t>
            </a:r>
            <a:r>
              <a:rPr kumimoji="1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ea"/>
              </a:rPr>
              <a:t>output[</a:t>
            </a:r>
            <a:r>
              <a:rPr kumimoji="1" lang="en-US" altLang="ko-KR" sz="1600" b="0" i="0" u="none" strike="noStrike" kern="0" cap="none" spc="0" normalizeH="0" baseline="0" noProof="0" dirty="0" err="1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ea"/>
              </a:rPr>
              <a:t>outNeuron</a:t>
            </a:r>
            <a:r>
              <a:rPr kumimoji="1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ea"/>
              </a:rPr>
              <a:t>] </a:t>
            </a:r>
            <a:r>
              <a:rPr kumimoji="1" lang="en-US" altLang="ko-KR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</a:rPr>
              <a:t>= 0;</a:t>
            </a:r>
          </a:p>
          <a:p>
            <a:pPr marL="0" marR="0" lvl="0" indent="0" defTabSz="91440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}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8C073A7-BE50-1BAB-0E39-7353BE31E30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8212" t="-7251" r="-7637" b="-7080"/>
          <a:stretch/>
        </p:blipFill>
        <p:spPr>
          <a:xfrm>
            <a:off x="5627687" y="4119310"/>
            <a:ext cx="2952328" cy="2304256"/>
          </a:xfrm>
          <a:prstGeom prst="rect">
            <a:avLst/>
          </a:prstGeom>
          <a:solidFill>
            <a:sysClr val="window" lastClr="FFFFFF"/>
          </a:solidFill>
          <a:ln>
            <a:solidFill>
              <a:sysClr val="windowText" lastClr="000000"/>
            </a:solidFill>
          </a:ln>
        </p:spPr>
      </p:pic>
    </p:spTree>
    <p:extLst>
      <p:ext uri="{BB962C8B-B14F-4D97-AF65-F5344CB8AC3E}">
        <p14:creationId xmlns:p14="http://schemas.microsoft.com/office/powerpoint/2010/main" val="2579191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E883D1-5153-4344-A1A7-9378D6A0B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</a:t>
            </a:r>
            <a:r>
              <a:rPr lang="en-US" altLang="ko-KR" dirty="0"/>
              <a:t>: </a:t>
            </a:r>
            <a:r>
              <a:rPr lang="ko-KR" altLang="en-US" dirty="0"/>
              <a:t>수행 내용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1C5CCC-2CEC-491E-9F49-B182D61AE09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순차 코드를 가속할 수 있는 </a:t>
            </a:r>
            <a:r>
              <a:rPr lang="en-US" altLang="ko-KR" dirty="0"/>
              <a:t>kernel </a:t>
            </a:r>
            <a:r>
              <a:rPr lang="ko-KR" altLang="en-US" dirty="0"/>
              <a:t>코드 작성 및 성능 평가 수행</a:t>
            </a:r>
          </a:p>
          <a:p>
            <a:pPr lvl="1"/>
            <a:endParaRPr lang="ko-KR" altLang="en-US" dirty="0"/>
          </a:p>
          <a:p>
            <a:r>
              <a:rPr lang="en-US" altLang="ko-KR" dirty="0" err="1"/>
              <a:t>image.bin</a:t>
            </a:r>
            <a:endParaRPr lang="en-US" altLang="ko-KR" dirty="0"/>
          </a:p>
          <a:p>
            <a:pPr lvl="1"/>
            <a:r>
              <a:rPr lang="en-US" altLang="ko-KR" dirty="0"/>
              <a:t>100</a:t>
            </a:r>
            <a:r>
              <a:rPr lang="ko-KR" altLang="en-US" dirty="0"/>
              <a:t>개의 이미지 및 레이블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network.bin</a:t>
            </a:r>
            <a:endParaRPr lang="en-US" altLang="ko-KR" dirty="0"/>
          </a:p>
          <a:p>
            <a:pPr lvl="1"/>
            <a:r>
              <a:rPr lang="ko-KR" altLang="en-US" dirty="0"/>
              <a:t>학습된 </a:t>
            </a:r>
            <a:r>
              <a:rPr lang="en-US" altLang="ko-KR" dirty="0"/>
              <a:t>weight</a:t>
            </a:r>
            <a:r>
              <a:rPr lang="ko-KR" altLang="en-US" dirty="0"/>
              <a:t>와 </a:t>
            </a:r>
            <a:r>
              <a:rPr lang="en-US" altLang="ko-KR" dirty="0"/>
              <a:t>bias</a:t>
            </a:r>
            <a:endParaRPr lang="ko-KR" altLang="en-US" dirty="0"/>
          </a:p>
          <a:p>
            <a:pPr lvl="1"/>
            <a:endParaRPr lang="ko-KR" altLang="en-US" dirty="0"/>
          </a:p>
          <a:p>
            <a:r>
              <a:rPr lang="ko-KR" altLang="en-US" dirty="0"/>
              <a:t>프로그램 실행</a:t>
            </a:r>
            <a:endParaRPr lang="en-US" altLang="ko-KR" dirty="0"/>
          </a:p>
          <a:p>
            <a:pPr lvl="1"/>
            <a:r>
              <a:rPr lang="en-US" altLang="ko-KR" dirty="0"/>
              <a:t>Visual Studio</a:t>
            </a:r>
            <a:r>
              <a:rPr lang="ko-KR" altLang="en-US" dirty="0"/>
              <a:t>의 기능을 사용해도 됨</a:t>
            </a:r>
            <a:endParaRPr lang="en-US" altLang="ko-KR" dirty="0"/>
          </a:p>
          <a:p>
            <a:pPr marL="457200" lvl="1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064663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E883D1-5153-4344-A1A7-9378D6A0B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</a:t>
            </a:r>
            <a:r>
              <a:rPr lang="en-US" altLang="ko-KR" dirty="0"/>
              <a:t>: </a:t>
            </a:r>
            <a:r>
              <a:rPr lang="ko-KR" altLang="en-US" dirty="0"/>
              <a:t>수행 내용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1C5CCC-2CEC-491E-9F49-B182D61AE09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구현</a:t>
            </a:r>
          </a:p>
          <a:p>
            <a:pPr lvl="1"/>
            <a:r>
              <a:rPr lang="en-US" altLang="ko-KR" dirty="0" err="1"/>
              <a:t>ViT_opencl.c</a:t>
            </a:r>
            <a:r>
              <a:rPr lang="en-US" altLang="ko-KR" dirty="0"/>
              <a:t> </a:t>
            </a:r>
            <a:r>
              <a:rPr lang="ko-KR" altLang="en-US" dirty="0"/>
              <a:t>파일의 </a:t>
            </a:r>
            <a:r>
              <a:rPr lang="en-US" altLang="ko-KR" dirty="0"/>
              <a:t>TODO</a:t>
            </a:r>
            <a:r>
              <a:rPr lang="ko-KR" altLang="en-US" dirty="0"/>
              <a:t>부분 구현</a:t>
            </a:r>
          </a:p>
          <a:p>
            <a:pPr lvl="1"/>
            <a:endParaRPr lang="ko-KR" altLang="en-US" dirty="0"/>
          </a:p>
          <a:p>
            <a:r>
              <a:rPr lang="ko-KR" altLang="en-US" dirty="0"/>
              <a:t>조건</a:t>
            </a:r>
          </a:p>
          <a:p>
            <a:pPr lvl="1"/>
            <a:r>
              <a:rPr lang="en-US" altLang="ko-KR" dirty="0"/>
              <a:t>OpenCL </a:t>
            </a:r>
            <a:r>
              <a:rPr lang="ko-KR" altLang="en-US" dirty="0"/>
              <a:t>디바이스 </a:t>
            </a:r>
            <a:r>
              <a:rPr lang="en-US" altLang="ko-KR" dirty="0"/>
              <a:t>GPU</a:t>
            </a:r>
            <a:r>
              <a:rPr lang="ko-KR" altLang="en-US" dirty="0"/>
              <a:t>만 활용</a:t>
            </a:r>
            <a:endParaRPr lang="en-US" altLang="ko-KR" dirty="0"/>
          </a:p>
          <a:p>
            <a:pPr lvl="1"/>
            <a:r>
              <a:rPr lang="ko-KR" altLang="en-US" dirty="0"/>
              <a:t>딥러닝 알고리즘 자체의 변경은 불가</a:t>
            </a:r>
          </a:p>
          <a:p>
            <a:pPr lvl="2"/>
            <a:r>
              <a:rPr lang="ko-KR" altLang="en-US" dirty="0"/>
              <a:t>결과 값은 반드시 모든 이미지에 대한 분류 결과가 같아야 함</a:t>
            </a:r>
          </a:p>
          <a:p>
            <a:pPr lvl="2"/>
            <a:r>
              <a:rPr lang="ko-KR" altLang="en-US" dirty="0"/>
              <a:t>만약 오차 허용 값에 의해서 결과가 순차코드와 다른 경우에는 해당 이미지 명시</a:t>
            </a:r>
          </a:p>
        </p:txBody>
      </p:sp>
    </p:spTree>
    <p:extLst>
      <p:ext uri="{BB962C8B-B14F-4D97-AF65-F5344CB8AC3E}">
        <p14:creationId xmlns:p14="http://schemas.microsoft.com/office/powerpoint/2010/main" val="27321262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06772C-31CE-4CC6-AF35-50A486B96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</a:t>
            </a:r>
            <a:r>
              <a:rPr lang="en-US" altLang="ko-KR" dirty="0"/>
              <a:t>: </a:t>
            </a:r>
            <a:r>
              <a:rPr lang="ko-KR" altLang="en-US" dirty="0"/>
              <a:t>발표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57E449-DF17-4449-9AD3-7B3541E7EFD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7645" y="1302104"/>
            <a:ext cx="8236467" cy="4982400"/>
          </a:xfrm>
        </p:spPr>
        <p:txBody>
          <a:bodyPr>
            <a:normAutofit/>
          </a:bodyPr>
          <a:lstStyle/>
          <a:p>
            <a:r>
              <a:rPr lang="ko-KR" altLang="en-US" dirty="0"/>
              <a:t>중간 발표</a:t>
            </a:r>
          </a:p>
          <a:p>
            <a:pPr lvl="1"/>
            <a:r>
              <a:rPr lang="en-US" altLang="ko-KR" dirty="0" err="1"/>
              <a:t>ViT</a:t>
            </a:r>
            <a:r>
              <a:rPr lang="en-US" altLang="ko-KR" dirty="0"/>
              <a:t> </a:t>
            </a:r>
            <a:r>
              <a:rPr lang="ko-KR" altLang="en-US" dirty="0"/>
              <a:t>코드 이해한 만큼 정리해서 보고서 작성</a:t>
            </a:r>
          </a:p>
          <a:p>
            <a:pPr lvl="1"/>
            <a:r>
              <a:rPr lang="ko-KR" altLang="en-US" dirty="0"/>
              <a:t>현재까지 진행한 최적화 기법 간단하게 작성</a:t>
            </a:r>
          </a:p>
          <a:p>
            <a:pPr lvl="1"/>
            <a:r>
              <a:rPr lang="ko-KR" altLang="en-US" dirty="0"/>
              <a:t>최적화 코드가 동작하는 경우</a:t>
            </a:r>
            <a:r>
              <a:rPr lang="en-US" altLang="ko-KR" dirty="0"/>
              <a:t>, </a:t>
            </a:r>
            <a:r>
              <a:rPr lang="ko-KR" altLang="en-US" dirty="0"/>
              <a:t>동작 시간 체크해서 보고서에 추가</a:t>
            </a:r>
            <a:r>
              <a:rPr lang="en-US" altLang="ko-KR" dirty="0"/>
              <a:t>, </a:t>
            </a:r>
            <a:r>
              <a:rPr lang="ko-KR" altLang="en-US" dirty="0"/>
              <a:t>소스코드 제출</a:t>
            </a:r>
            <a:endParaRPr lang="en-US" altLang="ko-KR" dirty="0"/>
          </a:p>
          <a:p>
            <a:pPr lvl="1"/>
            <a:endParaRPr lang="ko-KR" altLang="en-US" dirty="0"/>
          </a:p>
          <a:p>
            <a:r>
              <a:rPr lang="ko-KR" altLang="en-US" dirty="0"/>
              <a:t>최종 발표</a:t>
            </a:r>
          </a:p>
          <a:p>
            <a:pPr lvl="1"/>
            <a:r>
              <a:rPr lang="ko-KR" altLang="en-US" b="1" dirty="0"/>
              <a:t>데이터셋</a:t>
            </a:r>
            <a:r>
              <a:rPr lang="en-US" altLang="ko-KR" b="1" dirty="0"/>
              <a:t>, </a:t>
            </a:r>
            <a:r>
              <a:rPr lang="ko-KR" altLang="en-US" b="1" dirty="0"/>
              <a:t>가중치 파일을 제외한 </a:t>
            </a:r>
            <a:r>
              <a:rPr lang="ko-KR" altLang="en-US" dirty="0"/>
              <a:t>프로젝트 코드 전체</a:t>
            </a:r>
          </a:p>
          <a:p>
            <a:pPr lvl="1"/>
            <a:r>
              <a:rPr lang="ko-KR" altLang="en-US" dirty="0"/>
              <a:t>보고서 </a:t>
            </a:r>
            <a:r>
              <a:rPr lang="en-US" altLang="ko-KR" dirty="0"/>
              <a:t>(word </a:t>
            </a:r>
            <a:r>
              <a:rPr lang="ko-KR" altLang="en-US" dirty="0"/>
              <a:t>또는</a:t>
            </a:r>
            <a:r>
              <a:rPr lang="en-US" altLang="ko-KR" dirty="0"/>
              <a:t> </a:t>
            </a:r>
            <a:r>
              <a:rPr lang="ko-KR" altLang="en-US" dirty="0"/>
              <a:t>한글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최적화 방법 → 적용 전</a:t>
            </a:r>
            <a:r>
              <a:rPr lang="en-US" altLang="ko-KR" dirty="0"/>
              <a:t>, </a:t>
            </a:r>
            <a:r>
              <a:rPr lang="ko-KR" altLang="en-US" dirty="0"/>
              <a:t>후의 성능 차이 </a:t>
            </a:r>
            <a:r>
              <a:rPr lang="en-US" altLang="ko-KR" dirty="0"/>
              <a:t>(</a:t>
            </a:r>
            <a:r>
              <a:rPr lang="ko-KR" altLang="en-US" dirty="0"/>
              <a:t>적용한 방법들 각각을 상세하게 작성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느낀 점 정리</a:t>
            </a:r>
          </a:p>
          <a:p>
            <a:pPr lvl="1"/>
            <a:r>
              <a:rPr lang="ko-KR" altLang="en-US" dirty="0"/>
              <a:t>프로젝트 최종 발표 자료 </a:t>
            </a:r>
            <a:r>
              <a:rPr lang="en-US" altLang="ko-KR" dirty="0"/>
              <a:t>(ppt </a:t>
            </a:r>
            <a:r>
              <a:rPr lang="ko-KR" altLang="en-US" dirty="0"/>
              <a:t>또는</a:t>
            </a:r>
            <a:r>
              <a:rPr lang="en-US" altLang="ko-KR" dirty="0"/>
              <a:t> pdf)</a:t>
            </a:r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추후 일정 재 공지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0845440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4ACC80-8CF9-4C04-B51D-CA983A1FC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참고문헌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01E0D1-6790-6DE1-DD5C-085E15D9E09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7646" y="1302103"/>
            <a:ext cx="8064000" cy="44288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>
                <a:solidFill>
                  <a:schemeClr val="bg2">
                    <a:lumMod val="25000"/>
                  </a:schemeClr>
                </a:solidFill>
              </a:rPr>
              <a:t>[1] Based on the paper (</a:t>
            </a:r>
            <a:r>
              <a:rPr lang="en-US" altLang="ko-KR" dirty="0" err="1">
                <a:solidFill>
                  <a:schemeClr val="bg2">
                    <a:lumMod val="25000"/>
                  </a:schemeClr>
                </a:solidFill>
              </a:rPr>
              <a:t>ViT</a:t>
            </a:r>
            <a:r>
              <a:rPr lang="en-US" altLang="ko-KR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ko-KR" altLang="en-US" dirty="0">
                <a:solidFill>
                  <a:schemeClr val="bg2">
                    <a:lumMod val="25000"/>
                  </a:schemeClr>
                </a:solidFill>
              </a:rPr>
              <a:t>구조</a:t>
            </a:r>
            <a:r>
              <a:rPr lang="en-US" altLang="ko-KR" dirty="0">
                <a:solidFill>
                  <a:schemeClr val="bg2">
                    <a:lumMod val="25000"/>
                  </a:schemeClr>
                </a:solidFill>
              </a:rPr>
              <a:t>)</a:t>
            </a:r>
            <a:endParaRPr lang="ko-KR" altLang="en-US" dirty="0">
              <a:solidFill>
                <a:schemeClr val="bg2">
                  <a:lumMod val="25000"/>
                </a:schemeClr>
              </a:solidFill>
            </a:endParaRPr>
          </a:p>
          <a:p>
            <a:pPr lvl="1"/>
            <a:r>
              <a:rPr lang="en-US" altLang="ko-KR" sz="1400" i="0" dirty="0">
                <a:solidFill>
                  <a:schemeClr val="bg2">
                    <a:lumMod val="25000"/>
                  </a:schemeClr>
                </a:solidFill>
                <a:effectLst/>
                <a:latin typeface="Lucida Grand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 Image is Worth 16x16 Words: Transformers for Image Recognition at Scale</a:t>
            </a:r>
            <a:r>
              <a:rPr lang="en-US" altLang="ko-KR" sz="1400" i="0" dirty="0">
                <a:solidFill>
                  <a:schemeClr val="bg2">
                    <a:lumMod val="25000"/>
                  </a:schemeClr>
                </a:solidFill>
                <a:effectLst/>
                <a:latin typeface="Lucida Grande"/>
              </a:rPr>
              <a:t> (ICLR 2021)</a:t>
            </a:r>
            <a:endParaRPr lang="en-US" altLang="ko-KR" sz="1400" dirty="0">
              <a:solidFill>
                <a:schemeClr val="bg2">
                  <a:lumMod val="25000"/>
                </a:schemeClr>
              </a:solidFill>
            </a:endParaRPr>
          </a:p>
          <a:p>
            <a:pPr marL="0" indent="0">
              <a:buNone/>
            </a:pPr>
            <a:r>
              <a:rPr lang="en-US" altLang="ko-KR" dirty="0">
                <a:solidFill>
                  <a:schemeClr val="bg2">
                    <a:lumMod val="25000"/>
                  </a:schemeClr>
                </a:solidFill>
              </a:rPr>
              <a:t>[2] Transformer paper</a:t>
            </a:r>
            <a:endParaRPr lang="ko-KR" altLang="en-US" dirty="0">
              <a:solidFill>
                <a:schemeClr val="bg2">
                  <a:lumMod val="25000"/>
                </a:schemeClr>
              </a:solidFill>
            </a:endParaRPr>
          </a:p>
          <a:p>
            <a:pPr lvl="1"/>
            <a:r>
              <a:rPr lang="en-US" altLang="ko-KR" sz="1400" dirty="0">
                <a:solidFill>
                  <a:schemeClr val="bg2">
                    <a:lumMod val="25000"/>
                  </a:schemeClr>
                </a:solidFill>
                <a:latin typeface="Lucida Grand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Attention</a:t>
            </a:r>
            <a:r>
              <a:rPr lang="ko-KR" altLang="en-US" sz="1400" dirty="0">
                <a:solidFill>
                  <a:schemeClr val="bg2">
                    <a:lumMod val="25000"/>
                  </a:schemeClr>
                </a:solidFill>
                <a:latin typeface="Lucida Grand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altLang="ko-KR" sz="1400" dirty="0">
                <a:solidFill>
                  <a:schemeClr val="bg2">
                    <a:lumMod val="25000"/>
                  </a:schemeClr>
                </a:solidFill>
                <a:latin typeface="Lucida Grand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is</a:t>
            </a:r>
            <a:r>
              <a:rPr lang="ko-KR" altLang="en-US" sz="1400" dirty="0">
                <a:solidFill>
                  <a:schemeClr val="bg2">
                    <a:lumMod val="25000"/>
                  </a:schemeClr>
                </a:solidFill>
                <a:latin typeface="Lucida Grand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altLang="ko-KR" sz="1400" dirty="0">
                <a:solidFill>
                  <a:schemeClr val="bg2">
                    <a:lumMod val="25000"/>
                  </a:schemeClr>
                </a:solidFill>
                <a:latin typeface="Lucida Grand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All</a:t>
            </a:r>
            <a:r>
              <a:rPr lang="ko-KR" altLang="en-US" sz="1400" dirty="0">
                <a:solidFill>
                  <a:schemeClr val="bg2">
                    <a:lumMod val="25000"/>
                  </a:schemeClr>
                </a:solidFill>
                <a:latin typeface="Lucida Grand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altLang="ko-KR" sz="1400" dirty="0">
                <a:solidFill>
                  <a:schemeClr val="bg2">
                    <a:lumMod val="25000"/>
                  </a:schemeClr>
                </a:solidFill>
                <a:latin typeface="Lucida Grand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</a:t>
            </a:r>
            <a:r>
              <a:rPr lang="ko-KR" altLang="en-US" sz="1400" dirty="0">
                <a:solidFill>
                  <a:schemeClr val="bg2">
                    <a:lumMod val="25000"/>
                  </a:schemeClr>
                </a:solidFill>
                <a:latin typeface="Lucida Grand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altLang="ko-KR" sz="1400" dirty="0">
                <a:solidFill>
                  <a:schemeClr val="bg2">
                    <a:lumMod val="25000"/>
                  </a:schemeClr>
                </a:solidFill>
                <a:latin typeface="Lucida Grand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Need</a:t>
            </a:r>
            <a:r>
              <a:rPr lang="ko-KR" altLang="en-US" sz="1400" dirty="0">
                <a:solidFill>
                  <a:schemeClr val="bg2">
                    <a:lumMod val="25000"/>
                  </a:schemeClr>
                </a:solidFill>
                <a:latin typeface="Lucida Grande"/>
              </a:rPr>
              <a:t> </a:t>
            </a:r>
            <a:r>
              <a:rPr lang="en-US" altLang="ko-KR" sz="1400" i="0" dirty="0">
                <a:solidFill>
                  <a:schemeClr val="bg2">
                    <a:lumMod val="25000"/>
                  </a:schemeClr>
                </a:solidFill>
                <a:effectLst/>
                <a:latin typeface="Lucida Grande"/>
              </a:rPr>
              <a:t>(NIPS 2017)</a:t>
            </a:r>
            <a:endParaRPr lang="ko-KR" altLang="en-US" sz="1400" u="sng" dirty="0">
              <a:solidFill>
                <a:schemeClr val="bg2">
                  <a:lumMod val="25000"/>
                </a:schemeClr>
              </a:solidFill>
            </a:endParaRPr>
          </a:p>
          <a:p>
            <a:pPr marL="0" indent="0">
              <a:buNone/>
            </a:pPr>
            <a:r>
              <a:rPr lang="en-US" altLang="ko-KR" dirty="0">
                <a:solidFill>
                  <a:schemeClr val="bg2">
                    <a:lumMod val="25000"/>
                  </a:schemeClr>
                </a:solidFill>
              </a:rPr>
              <a:t>[3] Code</a:t>
            </a:r>
            <a:r>
              <a:rPr lang="ko-KR" altLang="en-US" dirty="0">
                <a:solidFill>
                  <a:schemeClr val="bg2">
                    <a:lumMod val="25000"/>
                  </a:schemeClr>
                </a:solidFill>
              </a:rPr>
              <a:t>에 사용된 </a:t>
            </a:r>
            <a:r>
              <a:rPr lang="en-US" altLang="ko-KR" dirty="0">
                <a:solidFill>
                  <a:schemeClr val="bg2">
                    <a:lumMod val="25000"/>
                  </a:schemeClr>
                </a:solidFill>
              </a:rPr>
              <a:t>Pre-trained weights </a:t>
            </a:r>
          </a:p>
          <a:p>
            <a:pPr lvl="1"/>
            <a:r>
              <a:rPr lang="en-US" altLang="ko-KR" sz="1400" dirty="0" err="1">
                <a:solidFill>
                  <a:schemeClr val="bg2">
                    <a:lumMod val="25000"/>
                  </a:schemeClr>
                </a:solidFill>
              </a:rPr>
              <a:t>Pytorch</a:t>
            </a:r>
            <a:r>
              <a:rPr lang="en-US" altLang="ko-KR" sz="1400" dirty="0">
                <a:solidFill>
                  <a:schemeClr val="bg2">
                    <a:lumMod val="25000"/>
                  </a:schemeClr>
                </a:solidFill>
              </a:rPr>
              <a:t> &gt; Models and pre-trained weights &gt; </a:t>
            </a:r>
            <a:r>
              <a:rPr lang="en-US" altLang="ko-KR" sz="1400" dirty="0" err="1">
                <a:solidFill>
                  <a:schemeClr val="bg2">
                    <a:lumMod val="2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VisionTransformer</a:t>
            </a:r>
            <a:endParaRPr lang="en-US" altLang="ko-KR" sz="1400" dirty="0">
              <a:solidFill>
                <a:schemeClr val="bg2">
                  <a:lumMod val="25000"/>
                </a:schemeClr>
              </a:solidFill>
            </a:endParaRPr>
          </a:p>
          <a:p>
            <a:pPr lvl="1"/>
            <a:r>
              <a:rPr lang="en-US" altLang="ko-KR" sz="1400" dirty="0">
                <a:solidFill>
                  <a:schemeClr val="bg2">
                    <a:lumMod val="25000"/>
                  </a:schemeClr>
                </a:solidFill>
              </a:rPr>
              <a:t>vit_b_16 </a:t>
            </a:r>
            <a:r>
              <a:rPr lang="ko-KR" altLang="en-US" sz="1400" dirty="0">
                <a:solidFill>
                  <a:schemeClr val="bg2">
                    <a:lumMod val="25000"/>
                  </a:schemeClr>
                </a:solidFill>
              </a:rPr>
              <a:t>사용</a:t>
            </a:r>
            <a:endParaRPr lang="en-US" altLang="ko-KR" sz="1400" dirty="0">
              <a:solidFill>
                <a:schemeClr val="bg2">
                  <a:lumMod val="25000"/>
                </a:schemeClr>
              </a:solidFill>
            </a:endParaRPr>
          </a:p>
          <a:p>
            <a:pPr marL="457200" lvl="1" indent="0">
              <a:buNone/>
            </a:pPr>
            <a:endParaRPr lang="en-US" altLang="ko-KR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65448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깨끗한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39639D"/>
      </a:hlink>
      <a:folHlink>
        <a:srgbClr val="343434"/>
      </a:folHlink>
    </a:clrScheme>
    <a:fontScheme name="KoPubWorld돋움체">
      <a:majorFont>
        <a:latin typeface="KoPubWorld돋움체 Bold"/>
        <a:ea typeface="KoPubWorld돋움체 Bold"/>
        <a:cs typeface=""/>
      </a:majorFont>
      <a:minorFont>
        <a:latin typeface="KoPubWorld돋움체 Medium"/>
        <a:ea typeface="KoPubWorld돋움체 Medium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1776</TotalTime>
  <Words>1104</Words>
  <Application>Microsoft Office PowerPoint</Application>
  <PresentationFormat>화면 슬라이드 쇼(4:3)</PresentationFormat>
  <Paragraphs>187</Paragraphs>
  <Slides>26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2" baseType="lpstr">
      <vt:lpstr>KoPubWorld돋움체 Bold</vt:lpstr>
      <vt:lpstr>KoPubWorld돋움체 Medium</vt:lpstr>
      <vt:lpstr>Lucida Grande</vt:lpstr>
      <vt:lpstr>Arial</vt:lpstr>
      <vt:lpstr>Cambria Math</vt:lpstr>
      <vt:lpstr>Office 테마</vt:lpstr>
      <vt:lpstr>멀티코어프로그래밍: 프로젝트</vt:lpstr>
      <vt:lpstr>프로젝트 개요</vt:lpstr>
      <vt:lpstr>인공 신경망</vt:lpstr>
      <vt:lpstr>인공 신경망의 개요</vt:lpstr>
      <vt:lpstr>Transformer</vt:lpstr>
      <vt:lpstr>Vision Transformer</vt:lpstr>
      <vt:lpstr>Vision Transformer 구조</vt:lpstr>
      <vt:lpstr>ViT 구조 - 입력 형태 생성</vt:lpstr>
      <vt:lpstr>ViT 구조 - 인코더</vt:lpstr>
      <vt:lpstr>ViT 구조 – Class 분류</vt:lpstr>
      <vt:lpstr>프로젝트: Transformer 모델 구성</vt:lpstr>
      <vt:lpstr>프로젝트: Transformer 모델 구성</vt:lpstr>
      <vt:lpstr>프로젝트: Transformer 모델 구성</vt:lpstr>
      <vt:lpstr>Multi-head Attention</vt:lpstr>
      <vt:lpstr>Multi-head Attention</vt:lpstr>
      <vt:lpstr>Multi-head Attention</vt:lpstr>
      <vt:lpstr>Multi-head Attention</vt:lpstr>
      <vt:lpstr>Multi-head Attention: 소스코드</vt:lpstr>
      <vt:lpstr>Multi-Layer Perceptron</vt:lpstr>
      <vt:lpstr>Fully Connected Layer</vt:lpstr>
      <vt:lpstr>Fully Connected Layer</vt:lpstr>
      <vt:lpstr>Fully Connected Layer: 소스코드</vt:lpstr>
      <vt:lpstr>프로젝트: 수행 내용</vt:lpstr>
      <vt:lpstr>프로젝트: 수행 내용</vt:lpstr>
      <vt:lpstr>프로젝트: 발표</vt:lpstr>
      <vt:lpstr>참고문헌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준영 김</dc:creator>
  <cp:lastModifiedBy>서현 전</cp:lastModifiedBy>
  <cp:revision>773</cp:revision>
  <dcterms:created xsi:type="dcterms:W3CDTF">2020-05-26T14:38:21Z</dcterms:created>
  <dcterms:modified xsi:type="dcterms:W3CDTF">2025-11-03T08:25:32Z</dcterms:modified>
</cp:coreProperties>
</file>